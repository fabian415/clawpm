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8" r:id="rId4"/>
  </p:sldMasterIdLst>
  <p:notesMasterIdLst>
    <p:notesMasterId r:id="rId14"/>
  </p:notesMasterIdLst>
  <p:sldIdLst>
    <p:sldId id="2147483176" r:id="rId5"/>
    <p:sldId id="2147483177" r:id="rId6"/>
    <p:sldId id="2147483193" r:id="rId7"/>
    <p:sldId id="2147483178" r:id="rId8"/>
    <p:sldId id="2147483192" r:id="rId9"/>
    <p:sldId id="2147483181" r:id="rId10"/>
    <p:sldId id="2147483187" r:id="rId11"/>
    <p:sldId id="2147483188" r:id="rId12"/>
    <p:sldId id="2147483180" r:id="rId13"/>
  </p:sldIdLst>
  <p:sldSz cx="12192000" cy="6858000"/>
  <p:notesSz cx="6797675" cy="992822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C3300"/>
    <a:srgbClr val="FF3300"/>
    <a:srgbClr val="003F6C"/>
    <a:srgbClr val="163C61"/>
    <a:srgbClr val="E3EDE4"/>
    <a:srgbClr val="95B041"/>
    <a:srgbClr val="F9FAF2"/>
    <a:srgbClr val="E2EBF3"/>
    <a:srgbClr val="FE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B46F5-CA7D-56B4-BEE0-9A1C7B39EA4B}" v="1" dt="2026-06-11T04:07:12.405"/>
    <p1510:client id="{99F54795-2FAB-FB91-0465-1099D38B323E}" v="4" dt="2026-06-12T15:42:04.4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93E37-0125-4B1A-AAF7-5D5B2235123C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541AC-22D5-4D8E-B247-3E55B23B04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2375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14.jpe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9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1.pn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3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9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4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8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5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9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6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8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7.bin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9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8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9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0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2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2.pn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1.bin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2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3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14.jpeg"/><Relationship Id="rId2" Type="http://schemas.openxmlformats.org/officeDocument/2006/relationships/tags" Target="../tags/tag25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24.bin"/><Relationship Id="rId4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5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6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7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8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9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3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0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33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1.bin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34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2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35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3.bin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36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4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3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7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5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38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8.pn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36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39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9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7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40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1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8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41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9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9.bin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4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8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0.bin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43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9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1.bin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44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8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2.bin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45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9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3.bin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4.bin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5.bin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48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2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46.bin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7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50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8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8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16.png"/><Relationship Id="rId2" Type="http://schemas.openxmlformats.org/officeDocument/2006/relationships/tags" Target="../tags/tag51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49.bin"/><Relationship Id="rId4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6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50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6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51.bin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55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7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52.bin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56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7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53.bin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5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18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54.bin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戶外, 白晝, 陽光, 雲 的圖片  AI 產生的內容可能不正確。">
            <a:extLst>
              <a:ext uri="{FF2B5EF4-FFF2-40B4-BE49-F238E27FC236}">
                <a16:creationId xmlns:a16="http://schemas.microsoft.com/office/drawing/2014/main" id="{6CFEF5EC-5285-4859-A327-81F6E9D0FB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6419E21-1F46-3B3C-10B4-B295334908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4000">
                <a:schemeClr val="bg1"/>
              </a:gs>
              <a:gs pos="96000">
                <a:schemeClr val="bg1">
                  <a:alpha val="0"/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26276" y="2128651"/>
            <a:ext cx="8534400" cy="1752600"/>
          </a:xfrm>
          <a:effectLst/>
        </p:spPr>
        <p:txBody>
          <a:bodyPr>
            <a:normAutofit/>
          </a:bodyPr>
          <a:lstStyle>
            <a:lvl1pPr marL="0" indent="0" algn="l">
              <a:buNone/>
              <a:defRPr kumimoji="1" lang="zh-TW" altLang="en-US" sz="5333" b="1" kern="0" baseline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608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2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1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pic>
        <p:nvPicPr>
          <p:cNvPr id="5" name="圖片 4" descr="一張含有 文字, 字型, 螢幕擷取畫面, 圖形 的圖片  AI 產生的內容可能不正確。">
            <a:extLst>
              <a:ext uri="{FF2B5EF4-FFF2-40B4-BE49-F238E27FC236}">
                <a16:creationId xmlns:a16="http://schemas.microsoft.com/office/drawing/2014/main" id="{D7EFCB48-058C-1907-2045-E6EFABC34A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3767" y="480082"/>
            <a:ext cx="2778826" cy="818255"/>
          </a:xfrm>
          <a:prstGeom prst="rect">
            <a:avLst/>
          </a:prstGeom>
        </p:spPr>
      </p:pic>
      <p:pic>
        <p:nvPicPr>
          <p:cNvPr id="6" name="圖形 5">
            <a:extLst>
              <a:ext uri="{FF2B5EF4-FFF2-40B4-BE49-F238E27FC236}">
                <a16:creationId xmlns:a16="http://schemas.microsoft.com/office/drawing/2014/main" id="{DDF0E879-3CE7-CA31-3244-DB420AD343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1188" y="5447519"/>
            <a:ext cx="3330982" cy="78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793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248068"/>
            <a:ext cx="10972800" cy="476673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609600" y="115840"/>
            <a:ext cx="10972800" cy="1007533"/>
          </a:xfrm>
        </p:spPr>
        <p:txBody>
          <a:bodyPr/>
          <a:lstStyle>
            <a:lvl1pPr algn="ctr">
              <a:defRPr kumimoji="1" lang="zh-TW" altLang="en-US" sz="4000" b="1" kern="0" baseline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097552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53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53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3594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8963" indent="0">
              <a:buNone/>
              <a:defRPr sz="2667" b="1"/>
            </a:lvl2pPr>
            <a:lvl3pPr marL="1218000" indent="0">
              <a:buNone/>
              <a:defRPr sz="2400" b="1"/>
            </a:lvl3pPr>
            <a:lvl4pPr marL="1826986" indent="0">
              <a:buNone/>
              <a:defRPr sz="2133" b="1"/>
            </a:lvl4pPr>
            <a:lvl5pPr marL="2435998" indent="0">
              <a:buNone/>
              <a:defRPr sz="2133" b="1"/>
            </a:lvl5pPr>
            <a:lvl6pPr marL="3044960" indent="0">
              <a:buNone/>
              <a:defRPr sz="2133" b="1"/>
            </a:lvl6pPr>
            <a:lvl7pPr marL="3653923" indent="0">
              <a:buNone/>
              <a:defRPr sz="2133" b="1"/>
            </a:lvl7pPr>
            <a:lvl8pPr marL="4262933" indent="0">
              <a:buNone/>
              <a:defRPr sz="2133" b="1"/>
            </a:lvl8pPr>
            <a:lvl9pPr marL="487192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5935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420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8963" indent="0">
              <a:buNone/>
              <a:defRPr sz="2667" b="1"/>
            </a:lvl2pPr>
            <a:lvl3pPr marL="1218000" indent="0">
              <a:buNone/>
              <a:defRPr sz="2400" b="1"/>
            </a:lvl3pPr>
            <a:lvl4pPr marL="1826986" indent="0">
              <a:buNone/>
              <a:defRPr sz="2133" b="1"/>
            </a:lvl4pPr>
            <a:lvl5pPr marL="2435998" indent="0">
              <a:buNone/>
              <a:defRPr sz="2133" b="1"/>
            </a:lvl5pPr>
            <a:lvl6pPr marL="3044960" indent="0">
              <a:buNone/>
              <a:defRPr sz="2133" b="1"/>
            </a:lvl6pPr>
            <a:lvl7pPr marL="3653923" indent="0">
              <a:buNone/>
              <a:defRPr sz="2133" b="1"/>
            </a:lvl7pPr>
            <a:lvl8pPr marL="4262933" indent="0">
              <a:buNone/>
              <a:defRPr sz="2133" b="1"/>
            </a:lvl8pPr>
            <a:lvl9pPr marL="487192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420" y="2175935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45168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32249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58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104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103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8963" indent="0">
              <a:buNone/>
              <a:defRPr sz="1600"/>
            </a:lvl2pPr>
            <a:lvl3pPr marL="1218000" indent="0">
              <a:buNone/>
              <a:defRPr sz="1333"/>
            </a:lvl3pPr>
            <a:lvl4pPr marL="1826986" indent="0">
              <a:buNone/>
              <a:defRPr sz="1200"/>
            </a:lvl4pPr>
            <a:lvl5pPr marL="2435998" indent="0">
              <a:buNone/>
              <a:defRPr sz="1200"/>
            </a:lvl5pPr>
            <a:lvl6pPr marL="3044960" indent="0">
              <a:buNone/>
              <a:defRPr sz="1200"/>
            </a:lvl6pPr>
            <a:lvl7pPr marL="3653923" indent="0">
              <a:buNone/>
              <a:defRPr sz="1200"/>
            </a:lvl7pPr>
            <a:lvl8pPr marL="4262933" indent="0">
              <a:buNone/>
              <a:defRPr sz="1200"/>
            </a:lvl8pPr>
            <a:lvl9pPr marL="4871928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6622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8844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5169"/>
            <a:ext cx="2743200" cy="585046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5169"/>
            <a:ext cx="8026400" cy="585046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25157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69042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ctrTitle"/>
          </p:nvPr>
        </p:nvSpPr>
        <p:spPr>
          <a:xfrm>
            <a:off x="1649489" y="2478465"/>
            <a:ext cx="9144000" cy="2387600"/>
          </a:xfrm>
        </p:spPr>
        <p:txBody>
          <a:bodyPr anchor="b"/>
          <a:lstStyle>
            <a:lvl1pPr algn="ctr">
              <a:defRPr sz="4400" i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zh-TW" altLang="en-US"/>
          </a:p>
        </p:txBody>
      </p:sp>
      <p:pic>
        <p:nvPicPr>
          <p:cNvPr id="2" name="圖片 1" descr="一張含有 戶外, 白晝, 陽光, 雲 的圖片  AI 產生的內容可能不正確。">
            <a:extLst>
              <a:ext uri="{FF2B5EF4-FFF2-40B4-BE49-F238E27FC236}">
                <a16:creationId xmlns:a16="http://schemas.microsoft.com/office/drawing/2014/main" id="{92071B43-F7C4-AECC-B1BD-8225715124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1CDD5F9-F465-2AB0-279F-EAD1E07FB2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4000">
                <a:schemeClr val="bg1"/>
              </a:gs>
              <a:gs pos="96000">
                <a:schemeClr val="bg1">
                  <a:alpha val="0"/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 descr="一張含有 文字, 字型, 螢幕擷取畫面, 圖形 的圖片  AI 產生的內容可能不正確。">
            <a:extLst>
              <a:ext uri="{FF2B5EF4-FFF2-40B4-BE49-F238E27FC236}">
                <a16:creationId xmlns:a16="http://schemas.microsoft.com/office/drawing/2014/main" id="{C790E73B-9D35-DD43-AA39-39C4F4705B9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3767" y="480082"/>
            <a:ext cx="2778826" cy="818255"/>
          </a:xfrm>
          <a:prstGeom prst="rect">
            <a:avLst/>
          </a:prstGeom>
        </p:spPr>
      </p:pic>
      <p:pic>
        <p:nvPicPr>
          <p:cNvPr id="8" name="圖形 7">
            <a:extLst>
              <a:ext uri="{FF2B5EF4-FFF2-40B4-BE49-F238E27FC236}">
                <a16:creationId xmlns:a16="http://schemas.microsoft.com/office/drawing/2014/main" id="{6D78D04A-0EAB-2B9B-6FDC-41414DE7C48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7884" y="2030286"/>
            <a:ext cx="8693081" cy="20594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3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2301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26276" y="2128651"/>
            <a:ext cx="8534400" cy="1752600"/>
          </a:xfrm>
          <a:effectLst/>
        </p:spPr>
        <p:txBody>
          <a:bodyPr>
            <a:normAutofit/>
          </a:bodyPr>
          <a:lstStyle>
            <a:lvl1pPr marL="0" indent="0" algn="l">
              <a:buNone/>
              <a:defRPr kumimoji="1" lang="zh-TW" altLang="en-US" sz="5300" b="1" kern="0" baseline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609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878293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248068"/>
            <a:ext cx="10972800" cy="476673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609600" y="115840"/>
            <a:ext cx="10972800" cy="1007533"/>
          </a:xfrm>
        </p:spPr>
        <p:txBody>
          <a:bodyPr/>
          <a:lstStyle>
            <a:lvl1pPr algn="l">
              <a:defRPr sz="4300"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718584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536100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4723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E387-BFA8-4176-BDC0-25D263CAE87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2026/7/9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4555-DD31-49AD-A1BA-26BEFE5ED15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623412" y="260745"/>
            <a:ext cx="10952503" cy="754095"/>
          </a:xfrm>
        </p:spPr>
        <p:txBody>
          <a:bodyPr>
            <a:noAutofit/>
          </a:bodyPr>
          <a:lstStyle>
            <a:lvl1pPr algn="l">
              <a:defRPr sz="43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主标题，微软雅黑，</a:t>
            </a:r>
            <a:r>
              <a:rPr lang="en-US" altLang="zh-CN"/>
              <a:t>32</a:t>
            </a:r>
            <a:r>
              <a:rPr lang="zh-CN" altLang="en-US"/>
              <a:t>号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609600" y="1700809"/>
            <a:ext cx="10972800" cy="442535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300"/>
            </a:lvl5pPr>
            <a:lvl6pPr marL="3047924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6pPr>
          </a:lstStyle>
          <a:p>
            <a:pPr lvl="0"/>
            <a:r>
              <a:rPr lang="zh-CN" altLang="en-US"/>
              <a:t>内文，微软雅黑，可用范围</a:t>
            </a:r>
            <a:r>
              <a:rPr lang="en-US" altLang="zh-CN"/>
              <a:t>8-18</a:t>
            </a:r>
            <a:r>
              <a:rPr lang="zh-CN" altLang="en-US"/>
              <a:t>号，推荐用最大字体</a:t>
            </a:r>
            <a:r>
              <a:rPr lang="en-US" altLang="zh-CN"/>
              <a:t>18</a:t>
            </a:r>
            <a:r>
              <a:rPr lang="zh-CN" altLang="en-US"/>
              <a:t>号</a:t>
            </a:r>
          </a:p>
          <a:p>
            <a:pPr lvl="1"/>
            <a:r>
              <a:rPr lang="zh-CN" altLang="en-US"/>
              <a:t>第二级，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  <a:p>
            <a:pPr lvl="2"/>
            <a:r>
              <a:rPr lang="zh-CN" altLang="en-US"/>
              <a:t>第三级，</a:t>
            </a:r>
            <a:r>
              <a:rPr lang="en-US" altLang="zh-CN"/>
              <a:t>14</a:t>
            </a:r>
            <a:r>
              <a:rPr lang="zh-CN" altLang="en-US"/>
              <a:t>号</a:t>
            </a:r>
          </a:p>
          <a:p>
            <a:pPr lvl="3"/>
            <a:r>
              <a:rPr lang="zh-CN" altLang="en-US"/>
              <a:t>第四级，</a:t>
            </a:r>
            <a:r>
              <a:rPr lang="en-US" altLang="zh-CN"/>
              <a:t>12</a:t>
            </a:r>
            <a:r>
              <a:rPr lang="zh-CN" altLang="en-US"/>
              <a:t>号</a:t>
            </a:r>
          </a:p>
          <a:p>
            <a:pPr lvl="4"/>
            <a:r>
              <a:rPr lang="zh-CN" altLang="en-US"/>
              <a:t>第五级，</a:t>
            </a:r>
            <a:r>
              <a:rPr lang="en-US" altLang="zh-CN"/>
              <a:t>10</a:t>
            </a:r>
            <a:r>
              <a:rPr lang="zh-CN" altLang="en-US"/>
              <a:t>号</a:t>
            </a:r>
            <a:endParaRPr lang="en-US" altLang="zh-CN"/>
          </a:p>
          <a:p>
            <a:pPr marL="3352716" marR="0" lvl="5" indent="-304792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/>
              <a:t>第六级，</a:t>
            </a:r>
            <a:r>
              <a:rPr lang="en-US" altLang="zh-CN"/>
              <a:t>8</a:t>
            </a:r>
            <a:r>
              <a:rPr lang="zh-CN" altLang="en-US"/>
              <a:t>号</a:t>
            </a:r>
          </a:p>
        </p:txBody>
      </p:sp>
      <p:sp>
        <p:nvSpPr>
          <p:cNvPr id="9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611467" y="932724"/>
            <a:ext cx="10938320" cy="480053"/>
          </a:xfrm>
        </p:spPr>
        <p:txBody>
          <a:bodyPr>
            <a:noAutofit/>
          </a:bodyPr>
          <a:lstStyle>
            <a:lvl1pPr marL="0" indent="0">
              <a:buNone/>
              <a:defRPr sz="2700" baseline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副标题，微软雅黑，</a:t>
            </a:r>
            <a:r>
              <a:rPr lang="en-US" altLang="zh-CN"/>
              <a:t>20</a:t>
            </a:r>
            <a:r>
              <a:rPr lang="zh-CN" altLang="en-US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491500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E387-BFA8-4176-BDC0-25D263CAE87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2026/7/9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4555-DD31-49AD-A1BA-26BEFE5ED15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623412" y="260745"/>
            <a:ext cx="10952503" cy="754095"/>
          </a:xfrm>
        </p:spPr>
        <p:txBody>
          <a:bodyPr>
            <a:noAutofit/>
          </a:bodyPr>
          <a:lstStyle>
            <a:lvl1pPr algn="l">
              <a:defRPr sz="43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主标题，微软雅黑，</a:t>
            </a:r>
            <a:r>
              <a:rPr lang="en-US" altLang="zh-CN"/>
              <a:t>32</a:t>
            </a:r>
            <a:r>
              <a:rPr lang="zh-CN" altLang="en-US"/>
              <a:t>号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609600" y="1700809"/>
            <a:ext cx="10972800" cy="442535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300"/>
            </a:lvl5pPr>
            <a:lvl6pPr marL="3047924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6pPr>
          </a:lstStyle>
          <a:p>
            <a:pPr lvl="0"/>
            <a:r>
              <a:rPr lang="zh-CN" altLang="en-US"/>
              <a:t>内文，微软雅黑，可用范围</a:t>
            </a:r>
            <a:r>
              <a:rPr lang="en-US" altLang="zh-CN"/>
              <a:t>8-18</a:t>
            </a:r>
            <a:r>
              <a:rPr lang="zh-CN" altLang="en-US"/>
              <a:t>号，推荐用最大字体</a:t>
            </a:r>
            <a:r>
              <a:rPr lang="en-US" altLang="zh-CN"/>
              <a:t>18</a:t>
            </a:r>
            <a:r>
              <a:rPr lang="zh-CN" altLang="en-US"/>
              <a:t>号</a:t>
            </a:r>
          </a:p>
          <a:p>
            <a:pPr lvl="1"/>
            <a:r>
              <a:rPr lang="zh-CN" altLang="en-US"/>
              <a:t>第二级，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  <a:p>
            <a:pPr lvl="2"/>
            <a:r>
              <a:rPr lang="zh-CN" altLang="en-US"/>
              <a:t>第三级，</a:t>
            </a:r>
            <a:r>
              <a:rPr lang="en-US" altLang="zh-CN"/>
              <a:t>14</a:t>
            </a:r>
            <a:r>
              <a:rPr lang="zh-CN" altLang="en-US"/>
              <a:t>号</a:t>
            </a:r>
          </a:p>
          <a:p>
            <a:pPr lvl="3"/>
            <a:r>
              <a:rPr lang="zh-CN" altLang="en-US"/>
              <a:t>第四级，</a:t>
            </a:r>
            <a:r>
              <a:rPr lang="en-US" altLang="zh-CN"/>
              <a:t>12</a:t>
            </a:r>
            <a:r>
              <a:rPr lang="zh-CN" altLang="en-US"/>
              <a:t>号</a:t>
            </a:r>
          </a:p>
          <a:p>
            <a:pPr lvl="4"/>
            <a:r>
              <a:rPr lang="zh-CN" altLang="en-US"/>
              <a:t>第五级，</a:t>
            </a:r>
            <a:r>
              <a:rPr lang="en-US" altLang="zh-CN"/>
              <a:t>10</a:t>
            </a:r>
            <a:r>
              <a:rPr lang="zh-CN" altLang="en-US"/>
              <a:t>号</a:t>
            </a:r>
            <a:endParaRPr lang="en-US" altLang="zh-CN"/>
          </a:p>
          <a:p>
            <a:pPr marL="3352716" marR="0" lvl="5" indent="-304792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/>
              <a:t>第六级，</a:t>
            </a:r>
            <a:r>
              <a:rPr lang="en-US" altLang="zh-CN"/>
              <a:t>8</a:t>
            </a:r>
            <a:r>
              <a:rPr lang="zh-CN" altLang="en-US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511085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E387-BFA8-4176-BDC0-25D263CAE87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2026/7/9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4555-DD31-49AD-A1BA-26BEFE5ED15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l">
              <a:defRPr sz="4300" b="0" cap="all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/>
              <a:t>主标题，微软雅黑，</a:t>
            </a:r>
            <a:r>
              <a:rPr lang="en-US" altLang="zh-CN"/>
              <a:t>32</a:t>
            </a:r>
            <a:r>
              <a:rPr lang="zh-CN" altLang="en-US"/>
              <a:t>号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副标题，微软雅黑，</a:t>
            </a:r>
            <a:r>
              <a:rPr lang="en-US" altLang="zh-CN"/>
              <a:t>20</a:t>
            </a:r>
            <a:r>
              <a:rPr lang="zh-CN" altLang="en-US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117535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3"/>
            <a:ext cx="5384800" cy="33940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3"/>
            <a:ext cx="5384800" cy="33940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E387-BFA8-4176-BDC0-25D263CAE87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2026/7/9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4555-DD31-49AD-A1BA-26BEFE5ED15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623412" y="260745"/>
            <a:ext cx="10952503" cy="754095"/>
          </a:xfrm>
        </p:spPr>
        <p:txBody>
          <a:bodyPr>
            <a:noAutofit/>
          </a:bodyPr>
          <a:lstStyle>
            <a:lvl1pPr algn="l">
              <a:defRPr sz="43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主标题，微软雅黑，</a:t>
            </a:r>
            <a:r>
              <a:rPr lang="en-US" altLang="zh-CN"/>
              <a:t>32</a:t>
            </a:r>
            <a:r>
              <a:rPr lang="zh-CN" altLang="en-US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8216493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0"/>
            </a:lvl1pPr>
            <a:lvl2pPr marL="609585" indent="0">
              <a:buNone/>
              <a:defRPr sz="27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00" b="1"/>
            </a:lvl4pPr>
            <a:lvl5pPr marL="2438339" indent="0">
              <a:buNone/>
              <a:defRPr sz="2100" b="1"/>
            </a:lvl5pPr>
            <a:lvl6pPr marL="3047924" indent="0">
              <a:buNone/>
              <a:defRPr sz="2100" b="1"/>
            </a:lvl6pPr>
            <a:lvl7pPr marL="3657509" indent="0">
              <a:buNone/>
              <a:defRPr sz="2100" b="1"/>
            </a:lvl7pPr>
            <a:lvl8pPr marL="4267093" indent="0">
              <a:buNone/>
              <a:defRPr sz="2100" b="1"/>
            </a:lvl8pPr>
            <a:lvl9pPr marL="4876678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5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8" y="1535113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0"/>
            </a:lvl1pPr>
            <a:lvl2pPr marL="609585" indent="0">
              <a:buNone/>
              <a:defRPr sz="27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00" b="1"/>
            </a:lvl4pPr>
            <a:lvl5pPr marL="2438339" indent="0">
              <a:buNone/>
              <a:defRPr sz="2100" b="1"/>
            </a:lvl5pPr>
            <a:lvl6pPr marL="3047924" indent="0">
              <a:buNone/>
              <a:defRPr sz="2100" b="1"/>
            </a:lvl6pPr>
            <a:lvl7pPr marL="3657509" indent="0">
              <a:buNone/>
              <a:defRPr sz="2100" b="1"/>
            </a:lvl7pPr>
            <a:lvl8pPr marL="4267093" indent="0">
              <a:buNone/>
              <a:defRPr sz="2100" b="1"/>
            </a:lvl8pPr>
            <a:lvl9pPr marL="4876678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5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E387-BFA8-4176-BDC0-25D263CAE87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2026/7/9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4555-DD31-49AD-A1BA-26BEFE5ED15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623412" y="260745"/>
            <a:ext cx="10952503" cy="754095"/>
          </a:xfrm>
        </p:spPr>
        <p:txBody>
          <a:bodyPr>
            <a:noAutofit/>
          </a:bodyPr>
          <a:lstStyle>
            <a:lvl1pPr algn="l">
              <a:defRPr sz="43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主标题，微软雅黑，</a:t>
            </a:r>
            <a:r>
              <a:rPr lang="en-US" altLang="zh-CN"/>
              <a:t>32</a:t>
            </a:r>
            <a:r>
              <a:rPr lang="zh-CN" altLang="en-US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5204439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E387-BFA8-4176-BDC0-25D263CAE87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2026/7/9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4555-DD31-49AD-A1BA-26BEFE5ED15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623412" y="260745"/>
            <a:ext cx="10952503" cy="754095"/>
          </a:xfrm>
        </p:spPr>
        <p:txBody>
          <a:bodyPr>
            <a:noAutofit/>
          </a:bodyPr>
          <a:lstStyle>
            <a:lvl1pPr algn="l">
              <a:defRPr sz="43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主标题，微软雅黑，</a:t>
            </a:r>
            <a:r>
              <a:rPr lang="en-US" altLang="zh-CN"/>
              <a:t>32</a:t>
            </a:r>
            <a:r>
              <a:rPr lang="zh-CN" altLang="en-US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638795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E387-BFA8-4176-BDC0-25D263CAE87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2026/7/9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4555-DD31-49AD-A1BA-26BEFE5ED15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字方塊 2"/>
          <p:cNvSpPr txBox="1">
            <a:spLocks noChangeArrowheads="1"/>
          </p:cNvSpPr>
          <p:nvPr userDrawn="1"/>
        </p:nvSpPr>
        <p:spPr bwMode="auto">
          <a:xfrm>
            <a:off x="478367" y="2940158"/>
            <a:ext cx="6790267" cy="1272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9pPr>
          </a:lstStyle>
          <a:p>
            <a:pPr defTabSz="1219170" eaLnBrk="1" hangingPunct="1">
              <a:spcBef>
                <a:spcPct val="0"/>
              </a:spcBef>
              <a:buFontTx/>
              <a:buNone/>
            </a:pPr>
            <a:r>
              <a:rPr lang="en-US" altLang="zh-TW" sz="3700" b="1" i="1">
                <a:solidFill>
                  <a:srgbClr val="FAA40A"/>
                </a:solidFill>
                <a:latin typeface="Times New Roman" pitchFamily="18" charset="0"/>
                <a:ea typeface="新細明體" charset="-120"/>
                <a:cs typeface="Times New Roman" pitchFamily="18" charset="0"/>
              </a:rPr>
              <a:t>Go Together, </a:t>
            </a:r>
          </a:p>
          <a:p>
            <a:pPr defTabSz="1219170" eaLnBrk="1" hangingPunct="1">
              <a:spcBef>
                <a:spcPct val="0"/>
              </a:spcBef>
              <a:buFontTx/>
              <a:buNone/>
            </a:pPr>
            <a:r>
              <a:rPr lang="en-US" altLang="zh-TW" sz="3700" b="1" i="1">
                <a:solidFill>
                  <a:srgbClr val="FAA40A"/>
                </a:solidFill>
                <a:latin typeface="Times New Roman" pitchFamily="18" charset="0"/>
                <a:ea typeface="新細明體" charset="-120"/>
                <a:cs typeface="Times New Roman" pitchFamily="18" charset="0"/>
              </a:rPr>
              <a:t>          We Go Far and Grow Big</a:t>
            </a:r>
            <a:endParaRPr lang="zh-TW" altLang="en-US" sz="3700" b="1" i="1">
              <a:solidFill>
                <a:srgbClr val="FAA40A"/>
              </a:solidFill>
              <a:latin typeface="Times New Roman" pitchFamily="18" charset="0"/>
              <a:ea typeface="新細明體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2350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26276" y="2128651"/>
            <a:ext cx="8534400" cy="1752600"/>
          </a:xfrm>
          <a:effectLst/>
        </p:spPr>
        <p:txBody>
          <a:bodyPr>
            <a:normAutofit/>
          </a:bodyPr>
          <a:lstStyle>
            <a:lvl1pPr marL="0" indent="0" algn="l">
              <a:buNone/>
              <a:defRPr kumimoji="1" lang="zh-TW" altLang="en-US" sz="5333" b="1" kern="0" baseline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608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2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1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9654028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951F09F-9EA4-45A9-A150-1C0ABBED4E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" y="0"/>
            <a:ext cx="12186584" cy="6858000"/>
          </a:xfrm>
          <a:prstGeom prst="rect">
            <a:avLst/>
          </a:prstGeom>
        </p:spPr>
      </p:pic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26276" y="2128651"/>
            <a:ext cx="8534400" cy="1752600"/>
          </a:xfrm>
          <a:effectLst/>
        </p:spPr>
        <p:txBody>
          <a:bodyPr>
            <a:normAutofit/>
          </a:bodyPr>
          <a:lstStyle>
            <a:lvl1pPr marL="0" indent="0" algn="l">
              <a:buNone/>
              <a:defRPr kumimoji="1" lang="zh-TW" altLang="en-US" sz="5333" b="1" kern="0" baseline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608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2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1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3275308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248068"/>
            <a:ext cx="10972800" cy="476673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609600" y="115840"/>
            <a:ext cx="10972800" cy="1007533"/>
          </a:xfrm>
        </p:spPr>
        <p:txBody>
          <a:bodyPr/>
          <a:lstStyle>
            <a:lvl1pPr algn="ctr">
              <a:defRPr kumimoji="1" lang="zh-TW" altLang="en-US" sz="4000" b="1" kern="0" baseline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9657046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495878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D48AE0C-50D6-401E-B56F-ECAB167A2F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" y="0"/>
            <a:ext cx="12186584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ctrTitle"/>
          </p:nvPr>
        </p:nvSpPr>
        <p:spPr>
          <a:xfrm>
            <a:off x="1649489" y="2478465"/>
            <a:ext cx="9144000" cy="2387600"/>
          </a:xfrm>
        </p:spPr>
        <p:txBody>
          <a:bodyPr anchor="b"/>
          <a:lstStyle>
            <a:lvl1pPr algn="ctr">
              <a:defRPr sz="4400" i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2848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26276" y="2128651"/>
            <a:ext cx="8534400" cy="1752600"/>
          </a:xfrm>
          <a:effectLst/>
        </p:spPr>
        <p:txBody>
          <a:bodyPr>
            <a:normAutofit/>
          </a:bodyPr>
          <a:lstStyle>
            <a:lvl1pPr marL="0" indent="0" algn="l">
              <a:buNone/>
              <a:defRPr kumimoji="1" lang="zh-TW" altLang="en-US" sz="5335" b="1" kern="0" baseline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Arial" panose="020B0604020202020204" pitchFamily="34" charset="0"/>
              </a:defRPr>
            </a:lvl1pPr>
            <a:lvl2pPr marL="608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8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7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6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2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15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79434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ctrTitle"/>
          </p:nvPr>
        </p:nvSpPr>
        <p:spPr>
          <a:xfrm>
            <a:off x="541361" y="2036763"/>
            <a:ext cx="9144000" cy="2387600"/>
          </a:xfrm>
        </p:spPr>
        <p:txBody>
          <a:bodyPr anchor="b"/>
          <a:lstStyle>
            <a:lvl1pPr algn="l">
              <a:defRPr sz="4400" i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58295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19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248068"/>
            <a:ext cx="10972800" cy="476673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609600" y="115840"/>
            <a:ext cx="10972800" cy="1007533"/>
          </a:xfrm>
        </p:spPr>
        <p:txBody>
          <a:bodyPr/>
          <a:lstStyle>
            <a:lvl1pPr algn="l">
              <a:defRPr sz="4265"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36095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12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248068"/>
            <a:ext cx="10972800" cy="476673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609600" y="115840"/>
            <a:ext cx="10972800" cy="1007533"/>
          </a:xfrm>
        </p:spPr>
        <p:txBody>
          <a:bodyPr/>
          <a:lstStyle>
            <a:lvl1pPr algn="l">
              <a:defRPr sz="4300"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2304435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5" name="Picture 4" descr="Graphical user interface, application  Description automatically generated">
            <a:extLst>
              <a:ext uri="{FF2B5EF4-FFF2-40B4-BE49-F238E27FC236}">
                <a16:creationId xmlns:a16="http://schemas.microsoft.com/office/drawing/2014/main" id="{2E770EF1-12AB-4F2F-BAC0-4F0641EC202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83901" cy="6858000"/>
          </a:xfrm>
          <a:prstGeom prst="rect">
            <a:avLst/>
          </a:prstGeom>
        </p:spPr>
      </p:pic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A013F30-5C5C-401F-A5CF-A756C8582B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117415" y="5699842"/>
            <a:ext cx="6868800" cy="327148"/>
          </a:xfrm>
          <a:prstGeom prst="rect">
            <a:avLst/>
          </a:prstGeom>
          <a:noFill/>
        </p:spPr>
        <p:txBody>
          <a:bodyPr anchor="ctr"/>
          <a:lstStyle>
            <a:lvl1pPr algn="l">
              <a:lnSpc>
                <a:spcPct val="110000"/>
              </a:lnSpc>
              <a:buNone/>
              <a:defRPr sz="1200" b="1" cap="all" baseline="0">
                <a:solidFill>
                  <a:srgbClr val="575757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algn="ctr">
              <a:buNone/>
              <a:defRPr/>
            </a:lvl2pPr>
            <a:lvl3pPr marL="0" indent="0" algn="ctr">
              <a:buNone/>
              <a:defRPr/>
            </a:lvl3pPr>
            <a:lvl4pPr marL="228600" indent="0" algn="ctr">
              <a:buNone/>
              <a:defRPr/>
            </a:lvl4pPr>
            <a:lvl5pPr marL="457200" indent="0" algn="ctr">
              <a:buNone/>
              <a:defRPr/>
            </a:lvl5pPr>
          </a:lstStyle>
          <a:p>
            <a:pPr lvl="0"/>
            <a:r>
              <a:rPr lang="en-US"/>
              <a:t>Click to edit date/place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F94F554-5770-4938-A65D-9124CF1379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1117415" y="1886242"/>
            <a:ext cx="6868800" cy="2787358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algn="l">
              <a:lnSpc>
                <a:spcPct val="93000"/>
              </a:lnSpc>
              <a:defRPr sz="5400" baseline="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Title in Title Case</a:t>
            </a:r>
          </a:p>
        </p:txBody>
      </p:sp>
    </p:spTree>
    <p:extLst>
      <p:ext uri="{BB962C8B-B14F-4D97-AF65-F5344CB8AC3E}">
        <p14:creationId xmlns:p14="http://schemas.microsoft.com/office/powerpoint/2010/main" val="2627523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4F3582E-1348-4FA6-88CD-2C8EEF3B4E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4F3582E-1348-4FA6-88CD-2C8EEF3B4E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8" name="Picture 71" descr="InnoTalks_Device Management">
            <a:extLst>
              <a:ext uri="{FF2B5EF4-FFF2-40B4-BE49-F238E27FC236}">
                <a16:creationId xmlns:a16="http://schemas.microsoft.com/office/drawing/2014/main" id="{F1AB07B1-F5F5-D4EA-2815-D288F564FE6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1265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C513844-1CB2-41A9-A00C-289635275B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C513844-1CB2-41A9-A00C-289635275B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FCE4FFF-81B3-4CDA-B0A1-3363FFB22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470898"/>
          </a:xfrm>
        </p:spPr>
        <p:txBody>
          <a:bodyPr vert="horz"/>
          <a:lstStyle>
            <a:lvl1pPr>
              <a:defRPr sz="3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9399" y="2085628"/>
            <a:ext cx="10933801" cy="4089131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71" descr="InnoTalks_Device Management">
            <a:extLst>
              <a:ext uri="{FF2B5EF4-FFF2-40B4-BE49-F238E27FC236}">
                <a16:creationId xmlns:a16="http://schemas.microsoft.com/office/drawing/2014/main" id="{AEB32BBF-580A-4365-3352-AD1ACEBDF51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0832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40F2894-04D8-4242-8468-BDB0A7C9E3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40F2894-04D8-4242-8468-BDB0A7C9E3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630000" y="1544274"/>
            <a:ext cx="3452400" cy="1495794"/>
          </a:xfrm>
          <a:noFill/>
        </p:spPr>
        <p:txBody>
          <a:bodyPr vert="horz" wrap="square" lIns="0" tIns="0" rIns="320040" bIns="0" anchor="b">
            <a:no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5" name="Picture 71" descr="InnoTalks_Device Management">
            <a:extLst>
              <a:ext uri="{FF2B5EF4-FFF2-40B4-BE49-F238E27FC236}">
                <a16:creationId xmlns:a16="http://schemas.microsoft.com/office/drawing/2014/main" id="{15677D15-683B-D817-1939-B84250A4EC4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418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AC08881-AEFC-46EA-B1D7-0680CA4C77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AC08881-AEFC-46EA-B1D7-0680CA4C7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vert="horz"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BDF908C0-EC9E-32CE-985D-68C2BC0066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4525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D58BA10-E85F-43D6-AA3C-0D2A7D65C4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D58BA10-E85F-43D6-AA3C-0D2A7D65C4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410E64A5-9211-976A-4CE2-8AF6542806A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5243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A3F58A4-E73B-41CF-B16B-1DB1CF5535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A3F58A4-E73B-41CF-B16B-1DB1CF5535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199AEC66-6B23-BC52-B8EF-B555F5388E3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58357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A1C29A3-E8F6-4758-8910-4CD716BEE1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A1C29A3-E8F6-4758-8910-4CD716BEE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0E8D1F48-F653-F243-96C5-850C184851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1881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97F1127-BAD5-4AD6-B88E-93C87F5CE2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97F1127-BAD5-4AD6-B88E-93C87F5CE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AB0F2BF2-9D3F-F3F1-210C-B37671EA574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6419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two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FCF21C2-8F4F-4A8D-B780-98AAEEB7C6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FCF21C2-8F4F-4A8D-B780-98AAEEB7C6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1804650"/>
            <a:ext cx="624755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517359B8-64E2-B595-384E-F59F828EB9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5154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6CD9004-0732-4454-A6F4-EC12D4F299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6CD9004-0732-4454-A6F4-EC12D4F29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3E03E29-1849-4FE7-A7EB-0E10385F8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 sz="3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57CB7850-240F-15F9-DEE2-908623CA8EE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2890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left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F45E05F-30FB-4DB2-9C72-685F495FF9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F45E05F-30FB-4DB2-9C72-685F495FF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 sz="32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739E0020-83C5-FD1A-DE6D-6E9483227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5303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A603ADB3-AFAF-7CD5-5BC9-22B24A46F38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3206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arrow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31729DF-6DD7-4AF5-AF18-32BF1AA792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31729DF-6DD7-4AF5-AF18-32BF1AA792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90A08C9C-9434-9C2A-C080-05CC17789A7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6120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967B264-84DB-4292-B88D-29D312EFC4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967B264-84DB-4292-B88D-29D312EFC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1DF2936E-5596-3CE6-6291-10AD2A47366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7622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arro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CE3EFB6-E9F2-4DB8-979F-59757BD52C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CE3EFB6-E9F2-4DB8-979F-59757BD52C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CD879149-41A9-C0AF-B9D2-D424292916D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0491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 two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6FA44FF-82BE-4C9A-A850-15DD7A2D97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6FA44FF-82BE-4C9A-A850-15DD7A2D97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AE3EE2E5-6D2A-4209-AC71-6D65A2E98EF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4251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arrow two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6D351D-BFE6-4FBA-BEB5-B215E1FEF6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6D351D-BFE6-4FBA-BEB5-B215E1FEF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81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10DC16C0-E180-DE37-9350-321839D1236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3682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F4EBE1C-7560-4329-A7D3-8A3C99AC99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F4EBE1C-7560-4329-A7D3-8A3C99AC99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D17FCF20-E56B-7E03-8D36-59166133BCA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9447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52C72FE-9095-42F3-866A-85A52DB90D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52C72FE-9095-42F3-866A-85A52DB90D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white">
          <a:xfrm>
            <a:off x="630000" y="625475"/>
            <a:ext cx="932688" cy="9326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6A726C52-5D74-691D-0C43-B9B334AB21C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3014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E83E902D-3EEB-B18F-399E-5C4B3FE0879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76743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082161C-E3D2-454F-9982-070DF97D1F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082161C-E3D2-454F-9982-070DF97D1F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</p:spPr>
        <p:txBody>
          <a:bodyPr vert="horz"/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4E2D3772-4FDD-97EF-492B-C1DFE315A26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55849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6DF9BB30-2E30-499E-BC75-4EEB072682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6DF9BB30-2E30-499E-BC75-4EEB072682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A5EEBFDA-B5EE-2B6B-FD47-2016DCA6D9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69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6" name="Picture 15" descr="Graphical user interface, application  Description automatically generated">
            <a:extLst>
              <a:ext uri="{FF2B5EF4-FFF2-40B4-BE49-F238E27FC236}">
                <a16:creationId xmlns:a16="http://schemas.microsoft.com/office/drawing/2014/main" id="{B7FF9F33-5639-4B39-B62A-7A4ED6B719E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83901" cy="6858000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976AA49-6A1E-416D-9143-9C2DE883BD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117415" y="5699842"/>
            <a:ext cx="6868800" cy="327148"/>
          </a:xfrm>
          <a:prstGeom prst="rect">
            <a:avLst/>
          </a:prstGeom>
          <a:noFill/>
        </p:spPr>
        <p:txBody>
          <a:bodyPr anchor="ctr"/>
          <a:lstStyle>
            <a:lvl1pPr algn="l">
              <a:lnSpc>
                <a:spcPct val="110000"/>
              </a:lnSpc>
              <a:buNone/>
              <a:defRPr sz="1200" b="1" cap="all" baseline="0">
                <a:solidFill>
                  <a:srgbClr val="575757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algn="ctr">
              <a:buNone/>
              <a:defRPr/>
            </a:lvl2pPr>
            <a:lvl3pPr marL="0" indent="0" algn="ctr">
              <a:buNone/>
              <a:defRPr/>
            </a:lvl3pPr>
            <a:lvl4pPr marL="228600" indent="0" algn="ctr">
              <a:buNone/>
              <a:defRPr/>
            </a:lvl4pPr>
            <a:lvl5pPr marL="457200" indent="0" algn="ctr">
              <a:buNone/>
              <a:defRPr/>
            </a:lvl5pPr>
          </a:lstStyle>
          <a:p>
            <a:pPr lvl="0"/>
            <a:r>
              <a:rPr lang="en-US"/>
              <a:t>Click to edit date/place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F22CE49-8415-4924-A565-F0611850E4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1117415" y="1886242"/>
            <a:ext cx="6868800" cy="2787358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algn="l">
              <a:lnSpc>
                <a:spcPct val="93000"/>
              </a:lnSpc>
              <a:defRPr sz="5400" baseline="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Title in Title Case</a:t>
            </a:r>
          </a:p>
        </p:txBody>
      </p:sp>
    </p:spTree>
    <p:extLst>
      <p:ext uri="{BB962C8B-B14F-4D97-AF65-F5344CB8AC3E}">
        <p14:creationId xmlns:p14="http://schemas.microsoft.com/office/powerpoint/2010/main" val="33278805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2399E3C-76A5-4E4C-A01D-4726D466CC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2399E3C-76A5-4E4C-A01D-4726D466CC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332399"/>
          </a:xfr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F1B1AD37-95F9-EF99-835D-D9A53642C5C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760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19D3D7C-D8A1-4E42-B3F6-5252B5812F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19D3D7C-D8A1-4E42-B3F6-5252B5812F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B083126-25E7-42D8-B799-608CFD4DF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9400" y="2085628"/>
            <a:ext cx="10933950" cy="40729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98483E31-D605-5F56-C343-704C571B4E4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2897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3DFCA64-7E56-4FF9-A1C8-40F852C2DA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3DFCA64-7E56-4FF9-A1C8-40F852C2DA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630000" y="2158987"/>
            <a:ext cx="374400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1227048"/>
            <a:ext cx="3744000" cy="664797"/>
          </a:xfrm>
        </p:spPr>
        <p:txBody>
          <a:bodyPr vert="horz" anchor="t">
            <a:noAutofit/>
          </a:bodyPr>
          <a:lstStyle>
            <a:lvl1pPr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134D05A3-2A68-604C-271A-E4DC8427A2F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199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2DFA759-6F0C-478E-BF01-33C1AD0887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2DFA759-6F0C-478E-BF01-33C1AD0887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280693" y="1424081"/>
            <a:ext cx="951721" cy="951721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99797E1C-5B07-9C37-E821-0AB5A28B5EB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6445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FBEC62-939C-4965-AA3E-30EEE123DB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FBEC62-939C-4965-AA3E-30EEE123DB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vert="horz" anchor="t">
            <a:noAutofit/>
          </a:bodyPr>
          <a:lstStyle>
            <a:lvl1pPr>
              <a:defRPr sz="540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630000" y="3680016"/>
            <a:ext cx="11558587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0E7BF933-5045-01CB-8769-3A88F005DB8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7037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Whit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697E0C8-7879-4EA6-9ABD-9ED7CCF12A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697E0C8-7879-4EA6-9ABD-9ED7CCF12A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E76E8DA8-57FE-6C0A-5291-B27DC3EC1D1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31821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een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5A0F477-F2BD-473F-B6D5-8F747B7F19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5A0F477-F2BD-473F-B6D5-8F747B7F19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76529" cy="332399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0E43C115-C0D8-638B-3439-AAA068687EF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583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Four column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CECAAD5-2829-48EA-B682-4AB3C80852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CECAAD5-2829-48EA-B682-4AB3C80852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8101584" cy="332399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8EC9B37A-22ED-3626-5D89-FA4817905C8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62144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een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1FF6E92-261B-4E7E-9839-CA747FE20F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1FF6E92-261B-4E7E-9839-CA747FE20F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F176097C-F33F-0CD8-3A0A-DE91E397FE5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4412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5C165D9-6D28-4BC4-85D1-0FF6A7F6B5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5C165D9-6D28-4BC4-85D1-0FF6A7F6B5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B18F18E2-E2CE-18F3-7E10-597391639A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75598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een two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14C6CAA-3569-4B69-88A8-FA7868B54B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14C6CAA-3569-4B69-88A8-FA7868B54B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936" y="1785600"/>
            <a:ext cx="624755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946A597F-BD9C-F80E-ABE7-D7FD5164AC6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57482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Left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"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A793D4FA-0ED4-4139-BDF6-BE8F64970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D5593181-6A46-77FB-043C-017AF909872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43409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een left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4D4C4A9-10FE-4231-ADA5-3931586BFD4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4D4C4A9-10FE-4231-ADA5-3931586BF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C2F27B8F-2D95-F3D6-0F41-9DA6E24203E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0119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Arrow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44CFBF8-3D81-44C4-836C-622695C34C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6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44CFBF8-3D81-44C4-836C-622695C34C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B77D1F55-D264-F973-469F-FE4ACF14CD5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19548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een arrow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632883-AF88-4DEF-817B-05CFB27FA9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632883-AF88-4DEF-817B-05CFB27FA9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88482249-028A-DB58-2706-B2E11A3F729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6134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Arro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6CED93D1-1753-44CD-9A6C-9455EF720D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4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6CED93D1-1753-44CD-9A6C-9455EF720D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747822" cy="332399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85362924-E544-3D37-20AF-B9F9EFA5049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01931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een arro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DF8612-110E-42D8-B347-5FDBB488C9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DF8612-110E-42D8-B347-5FDBB488C9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747822" cy="332399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78B503BF-2B0E-BCDB-C095-205C561B9E0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51515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Arrow two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93BBEE8-B3AA-4450-BBFE-0F34017393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93BBEE8-B3AA-4450-BBFE-0F34017393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4496" cy="332399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1C6D077D-D618-2193-5A71-0B1E7764C86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95061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een arrow two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61F9363E-1EF8-462F-BF96-0B6E30452E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61F9363E-1EF8-462F-BF96-0B6E30452E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81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4496" cy="332399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89E4FE62-0D43-43D4-FC20-15F0DA093C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12765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9713FE5-A8E0-45AF-A659-488A4DB8A9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0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9713FE5-A8E0-45AF-A659-488A4DB8A9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E1A41EE8-8FC3-9B4F-7C2A-29C12574492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80371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D7E6FD2-5B09-46F2-A6EE-EBF3FEC0FE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D7E6FD2-5B09-46F2-A6EE-EBF3FEC0FE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white">
          <a:xfrm>
            <a:off x="630000" y="625475"/>
            <a:ext cx="932688" cy="9326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329060EC-9C8B-9A54-1B5D-87E3AC44767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38399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63837C53-DD48-6D65-34FB-B92C8D1ED9B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84765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pecial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6DCF2586-F7F3-466A-8BFF-3A06C1DA6F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2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6DCF2586-F7F3-466A-8BFF-3A06C1DA6F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332399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F174F7F3-1F2C-2334-7532-F826634DD4D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1910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9901069-7F3A-4590-98A7-A02062E11F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think-cell Slide" r:id="rId4" imgW="351" imgH="363" progId="TCLayout.ActiveDocument.1">
                  <p:embed/>
                </p:oleObj>
              </mc:Choice>
              <mc:Fallback>
                <p:oleObj name="think-cell Slide" r:id="rId4" imgW="351" imgH="36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9901069-7F3A-4590-98A7-A02062E11F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000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b="0">
                <a:solidFill>
                  <a:schemeClr val="accent1"/>
                </a:solidFill>
                <a:latin typeface="+mj-lt"/>
                <a:ea typeface="+mn-ea"/>
                <a:cs typeface="+mn-cs"/>
                <a:sym typeface="Trebuchet MS" panose="020B0603020202020204" pitchFamily="34" charset="0"/>
              </a:rPr>
              <a:t>Table of contents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55033F26-1A18-8170-3164-7F2B1C27819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6877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>
            <p:custDataLst>
              <p:tags r:id="rId3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8"/>
            <a:ext cx="3448800" cy="34930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199396" y="1115416"/>
            <a:ext cx="2309287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pic>
        <p:nvPicPr>
          <p:cNvPr id="4" name="Picture 71" descr="InnoTalks_Device Management">
            <a:extLst>
              <a:ext uri="{FF2B5EF4-FFF2-40B4-BE49-F238E27FC236}">
                <a16:creationId xmlns:a16="http://schemas.microsoft.com/office/drawing/2014/main" id="{68B064CE-48C4-3D88-7B16-94F5AA4B104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51772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DC835422-5CE3-24D7-4EA1-526C8D18E70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72792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Full Width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71" descr="InnoTalks_Device Management">
            <a:extLst>
              <a:ext uri="{FF2B5EF4-FFF2-40B4-BE49-F238E27FC236}">
                <a16:creationId xmlns:a16="http://schemas.microsoft.com/office/drawing/2014/main" id="{68C7A9DA-871A-CCC5-C59A-72C3F7CBEDA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40136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-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3207715"/>
            <a:ext cx="1547143" cy="4431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97303210-0BA1-2AC9-3299-CA227593155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70086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Two-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3262145"/>
            <a:ext cx="1161047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F61B3DFF-4676-B2E1-A581-C918D68BC36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64818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000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chemeClr val="accent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Table of contents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71" descr="InnoTalks_Device Management">
            <a:extLst>
              <a:ext uri="{FF2B5EF4-FFF2-40B4-BE49-F238E27FC236}">
                <a16:creationId xmlns:a16="http://schemas.microsoft.com/office/drawing/2014/main" id="{14D7FA4F-6346-ED41-3108-F04CF369A2B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2" t="24658" r="9148" b="23351"/>
          <a:stretch/>
        </p:blipFill>
        <p:spPr bwMode="auto">
          <a:xfrm>
            <a:off x="10205953" y="6378707"/>
            <a:ext cx="1144246" cy="23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5331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936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microsoft.com/office/2007/relationships/hdphoto" Target="../media/hdphoto1.wdp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8">
            <a:extLst>
              <a:ext uri="{BEBA8EAE-BF5A-486C-A8C5-ECC9F3942E4B}">
                <a14:imgProps xmlns:a14="http://schemas.microsoft.com/office/drawing/2010/main">
                  <a14:imgLayer r:embed="rId8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52917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2" tIns="45681" rIns="91362" bIns="4568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3556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299633"/>
            <a:ext cx="10972800" cy="485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2" tIns="45681" rIns="91362" bIns="456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362" tIns="45681" rIns="91362" bIns="45681" rtlCol="0" anchor="ctr"/>
          <a:lstStyle>
            <a:lvl1pPr algn="l" eaLnBrk="1" hangingPunct="1">
              <a:defRPr sz="1600" baseline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1F69E4B0-1C86-4745-9F82-5CA4CFDC7A84}" type="datetimeFigureOut">
              <a:rPr lang="zh-TW" altLang="en-US" smtClean="0"/>
              <a:pPr>
                <a:defRPr/>
              </a:pPr>
              <a:t>2026/7/9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362" tIns="45681" rIns="91362" bIns="45681" rtlCol="0" anchor="ctr"/>
          <a:lstStyle>
            <a:lvl1pPr algn="ctr" eaLnBrk="1" hangingPunct="1">
              <a:defRPr sz="1600" baseline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362" tIns="45681" rIns="91362" bIns="45681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 baseline="0">
                <a:solidFill>
                  <a:srgbClr val="898989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E00FCB06-866F-4430-B409-7A877FFE787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56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9" r:id="rId1"/>
    <p:sldLayoutId id="2147484140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  <p:sldLayoutId id="2147484147" r:id="rId9"/>
    <p:sldLayoutId id="2147484148" r:id="rId10"/>
    <p:sldLayoutId id="2147484149" r:id="rId11"/>
    <p:sldLayoutId id="2147484150" r:id="rId12"/>
    <p:sldLayoutId id="2147484151" r:id="rId13"/>
    <p:sldLayoutId id="2147484152" r:id="rId14"/>
    <p:sldLayoutId id="2147484153" r:id="rId15"/>
    <p:sldLayoutId id="2147484154" r:id="rId16"/>
    <p:sldLayoutId id="2147484155" r:id="rId17"/>
    <p:sldLayoutId id="2147484156" r:id="rId18"/>
    <p:sldLayoutId id="2147484157" r:id="rId19"/>
    <p:sldLayoutId id="2147484158" r:id="rId20"/>
    <p:sldLayoutId id="2147484159" r:id="rId21"/>
    <p:sldLayoutId id="2147484160" r:id="rId22"/>
    <p:sldLayoutId id="2147484161" r:id="rId23"/>
    <p:sldLayoutId id="2147484162" r:id="rId24"/>
    <p:sldLayoutId id="2147484163" r:id="rId25"/>
    <p:sldLayoutId id="2147484164" r:id="rId26"/>
    <p:sldLayoutId id="2147484165" r:id="rId27"/>
    <p:sldLayoutId id="2147484167" r:id="rId28"/>
    <p:sldLayoutId id="2147484168" r:id="rId29"/>
    <p:sldLayoutId id="2147484169" r:id="rId30"/>
    <p:sldLayoutId id="2147484170" r:id="rId31"/>
    <p:sldLayoutId id="2147484171" r:id="rId32"/>
    <p:sldLayoutId id="2147484172" r:id="rId33"/>
    <p:sldLayoutId id="2147484173" r:id="rId34"/>
    <p:sldLayoutId id="2147484174" r:id="rId35"/>
    <p:sldLayoutId id="2147484175" r:id="rId36"/>
    <p:sldLayoutId id="2147484176" r:id="rId37"/>
    <p:sldLayoutId id="2147484177" r:id="rId38"/>
    <p:sldLayoutId id="2147484178" r:id="rId39"/>
    <p:sldLayoutId id="2147484179" r:id="rId40"/>
    <p:sldLayoutId id="2147484180" r:id="rId41"/>
    <p:sldLayoutId id="2147484181" r:id="rId42"/>
    <p:sldLayoutId id="2147484182" r:id="rId43"/>
    <p:sldLayoutId id="2147484183" r:id="rId44"/>
    <p:sldLayoutId id="2147484184" r:id="rId45"/>
    <p:sldLayoutId id="2147484185" r:id="rId46"/>
    <p:sldLayoutId id="2147484186" r:id="rId47"/>
    <p:sldLayoutId id="2147484187" r:id="rId48"/>
    <p:sldLayoutId id="2147484188" r:id="rId49"/>
    <p:sldLayoutId id="2147484189" r:id="rId50"/>
    <p:sldLayoutId id="2147484190" r:id="rId51"/>
    <p:sldLayoutId id="2147484191" r:id="rId52"/>
    <p:sldLayoutId id="2147484192" r:id="rId53"/>
    <p:sldLayoutId id="2147484193" r:id="rId54"/>
    <p:sldLayoutId id="2147484194" r:id="rId55"/>
    <p:sldLayoutId id="2147484195" r:id="rId56"/>
    <p:sldLayoutId id="2147484196" r:id="rId57"/>
    <p:sldLayoutId id="2147484197" r:id="rId58"/>
    <p:sldLayoutId id="2147484198" r:id="rId59"/>
    <p:sldLayoutId id="2147484199" r:id="rId60"/>
    <p:sldLayoutId id="2147484200" r:id="rId61"/>
    <p:sldLayoutId id="2147484201" r:id="rId62"/>
    <p:sldLayoutId id="2147484202" r:id="rId63"/>
    <p:sldLayoutId id="2147484203" r:id="rId64"/>
    <p:sldLayoutId id="2147484204" r:id="rId65"/>
    <p:sldLayoutId id="2147484205" r:id="rId66"/>
    <p:sldLayoutId id="2147484206" r:id="rId67"/>
    <p:sldLayoutId id="2147484207" r:id="rId68"/>
    <p:sldLayoutId id="2147484208" r:id="rId69"/>
    <p:sldLayoutId id="2147484209" r:id="rId70"/>
    <p:sldLayoutId id="2147484210" r:id="rId71"/>
    <p:sldLayoutId id="2147484211" r:id="rId72"/>
    <p:sldLayoutId id="2147484212" r:id="rId73"/>
    <p:sldLayoutId id="2147484213" r:id="rId74"/>
    <p:sldLayoutId id="2147484214" r:id="rId75"/>
    <p:sldLayoutId id="2147484215" r:id="rId76"/>
    <p:sldLayoutId id="2147484216" r:id="rId77"/>
    <p:sldLayoutId id="2147484217" r:id="rId78"/>
    <p:sldLayoutId id="2147484218" r:id="rId79"/>
    <p:sldLayoutId id="2147484219" r:id="rId80"/>
    <p:sldLayoutId id="2147484220" r:id="rId81"/>
    <p:sldLayoutId id="2147484221" r:id="rId82"/>
    <p:sldLayoutId id="2147484222" r:id="rId83"/>
    <p:sldLayoutId id="2147484223" r:id="rId84"/>
    <p:sldLayoutId id="2147484224" r:id="rId85"/>
    <p:sldLayoutId id="2147484225" r:id="rId8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lang="zh-TW" altLang="en-US" sz="4000" b="1" kern="0" baseline="0" dirty="0" smtClean="0">
          <a:solidFill>
            <a:srgbClr val="002060"/>
          </a:solidFill>
          <a:effectLst/>
          <a:latin typeface="Calibri" panose="020F0502020204030204" pitchFamily="34" charset="0"/>
          <a:ea typeface="微軟正黑體" pitchFamily="34" charset="-120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Calibri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Calibri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Calibri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Calibri" pitchFamily="34" charset="0"/>
          <a:ea typeface="微軟正黑體" pitchFamily="34" charset="-120"/>
        </a:defRPr>
      </a:lvl5pPr>
      <a:lvl6pPr marL="608963" algn="ctr" rtl="0" fontAlgn="base">
        <a:spcBef>
          <a:spcPct val="0"/>
        </a:spcBef>
        <a:spcAft>
          <a:spcPct val="0"/>
        </a:spcAft>
        <a:defRPr sz="5333" b="1">
          <a:solidFill>
            <a:schemeClr val="tx1"/>
          </a:solidFill>
          <a:latin typeface="Arial" charset="0"/>
          <a:ea typeface="微軟正黑體" pitchFamily="34" charset="-120"/>
        </a:defRPr>
      </a:lvl6pPr>
      <a:lvl7pPr marL="1218000" algn="ctr" rtl="0" fontAlgn="base">
        <a:spcBef>
          <a:spcPct val="0"/>
        </a:spcBef>
        <a:spcAft>
          <a:spcPct val="0"/>
        </a:spcAft>
        <a:defRPr sz="5333" b="1">
          <a:solidFill>
            <a:schemeClr val="tx1"/>
          </a:solidFill>
          <a:latin typeface="Arial" charset="0"/>
          <a:ea typeface="微軟正黑體" pitchFamily="34" charset="-120"/>
        </a:defRPr>
      </a:lvl7pPr>
      <a:lvl8pPr marL="1826986" algn="ctr" rtl="0" fontAlgn="base">
        <a:spcBef>
          <a:spcPct val="0"/>
        </a:spcBef>
        <a:spcAft>
          <a:spcPct val="0"/>
        </a:spcAft>
        <a:defRPr sz="5333" b="1">
          <a:solidFill>
            <a:schemeClr val="tx1"/>
          </a:solidFill>
          <a:latin typeface="Arial" charset="0"/>
          <a:ea typeface="微軟正黑體" pitchFamily="34" charset="-120"/>
        </a:defRPr>
      </a:lvl8pPr>
      <a:lvl9pPr marL="2435998" algn="ctr" rtl="0" fontAlgn="base">
        <a:spcBef>
          <a:spcPct val="0"/>
        </a:spcBef>
        <a:spcAft>
          <a:spcPct val="0"/>
        </a:spcAft>
        <a:defRPr sz="5333" b="1">
          <a:solidFill>
            <a:schemeClr val="tx1"/>
          </a:solidFill>
          <a:latin typeface="Arial" charset="0"/>
          <a:ea typeface="微軟正黑體" pitchFamily="34" charset="-120"/>
        </a:defRPr>
      </a:lvl9pPr>
    </p:titleStyle>
    <p:bodyStyle>
      <a:lvl1pPr marL="455073" indent="-45507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600" kern="1200" baseline="0">
          <a:solidFill>
            <a:schemeClr val="tx1"/>
          </a:solidFill>
          <a:latin typeface="Calibri" panose="020F0502020204030204" pitchFamily="34" charset="0"/>
          <a:ea typeface="微軟正黑體" pitchFamily="34" charset="-120"/>
          <a:cs typeface="+mn-cs"/>
        </a:defRPr>
      </a:lvl1pPr>
      <a:lvl2pPr marL="988459" indent="-3788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 baseline="0">
          <a:solidFill>
            <a:schemeClr val="tx1"/>
          </a:solidFill>
          <a:latin typeface="Calibri" panose="020F0502020204030204" pitchFamily="34" charset="0"/>
          <a:ea typeface="微軟正黑體" pitchFamily="34" charset="-120"/>
          <a:cs typeface="+mn-cs"/>
        </a:defRPr>
      </a:lvl2pPr>
      <a:lvl3pPr marL="1521846" indent="-302676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" panose="020F0502020204030204" pitchFamily="34" charset="0"/>
          <a:ea typeface="微軟正黑體" pitchFamily="34" charset="-120"/>
          <a:cs typeface="+mn-cs"/>
        </a:defRPr>
      </a:lvl3pPr>
      <a:lvl4pPr marL="2131431" indent="-302676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Calibri" panose="020F0502020204030204" pitchFamily="34" charset="0"/>
          <a:ea typeface="微軟正黑體" pitchFamily="34" charset="-120"/>
          <a:cs typeface="+mn-cs"/>
        </a:defRPr>
      </a:lvl4pPr>
      <a:lvl5pPr marL="2738898" indent="-302676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Calibri" panose="020F0502020204030204" pitchFamily="34" charset="0"/>
          <a:ea typeface="微軟正黑體" pitchFamily="34" charset="-120"/>
          <a:cs typeface="+mn-cs"/>
        </a:defRPr>
      </a:lvl5pPr>
      <a:lvl6pPr marL="3349440" indent="-304480" algn="l" defTabSz="1218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58453" indent="-304480" algn="l" defTabSz="1218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7440" indent="-304480" algn="l" defTabSz="1218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6427" indent="-304480" algn="l" defTabSz="1218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80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963" algn="l" defTabSz="12180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000" algn="l" defTabSz="12180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986" algn="l" defTabSz="12180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998" algn="l" defTabSz="12180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960" algn="l" defTabSz="12180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923" algn="l" defTabSz="12180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2933" algn="l" defTabSz="12180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1928" algn="l" defTabSz="12180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microsoft.com/office/2007/relationships/hdphoto" Target="../media/hdphoto2.wdp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A88BBDF-85D4-4B45-B711-123B976FC066}"/>
              </a:ext>
            </a:extLst>
          </p:cNvPr>
          <p:cNvSpPr txBox="1"/>
          <p:nvPr/>
        </p:nvSpPr>
        <p:spPr>
          <a:xfrm>
            <a:off x="418338" y="2263715"/>
            <a:ext cx="11490198" cy="4339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TW" sz="2000">
                <a:solidFill>
                  <a:schemeClr val="bg1">
                    <a:lumMod val="50000"/>
                  </a:schemeClr>
                </a:solidFill>
              </a:rPr>
              <a:t>Project Title</a:t>
            </a:r>
          </a:p>
          <a:p>
            <a:r>
              <a:rPr kumimoji="1" lang="en-US" altLang="zh-TW" sz="3200" b="1" kern="0">
                <a:solidFill>
                  <a:srgbClr val="002060"/>
                </a:solidFill>
                <a:latin typeface="Calibri"/>
                <a:ea typeface="微軟正黑體"/>
                <a:cs typeface="Arial"/>
              </a:rPr>
              <a:t>Product Offering AI Agent, </a:t>
            </a:r>
            <a:br>
              <a:rPr lang="en-US" altLang="zh-TW" sz="3200" b="1" kern="0"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3200" b="1" kern="0">
                <a:solidFill>
                  <a:srgbClr val="002060"/>
                </a:solidFill>
                <a:latin typeface="Calibri"/>
                <a:ea typeface="微軟正黑體"/>
                <a:cs typeface="Arial"/>
              </a:rPr>
              <a:t>Claw-enabled AI Agent for Sales Process</a:t>
            </a:r>
            <a:r>
              <a:rPr kumimoji="1" lang="zh-TW" altLang="en-US" sz="3200" b="1" kern="0">
                <a:solidFill>
                  <a:srgbClr val="002060"/>
                </a:solidFill>
                <a:latin typeface="Calibri"/>
                <a:ea typeface="微軟正黑體"/>
                <a:cs typeface="Arial"/>
              </a:rPr>
              <a:t>  </a:t>
            </a:r>
            <a:r>
              <a:rPr kumimoji="1" lang="en-US" altLang="zh-TW" sz="2400" b="1" i="1" u="sng" kern="0">
                <a:solidFill>
                  <a:schemeClr val="bg1">
                    <a:lumMod val="50000"/>
                  </a:schemeClr>
                </a:solidFill>
                <a:latin typeface="Calibri"/>
                <a:ea typeface="微軟正黑體"/>
                <a:cs typeface="Arial"/>
              </a:rPr>
              <a:t>(example)</a:t>
            </a:r>
            <a:endParaRPr kumimoji="1" lang="zh-TW" altLang="en-US" sz="2400" b="1" i="1" u="sng" kern="0">
              <a:solidFill>
                <a:schemeClr val="bg1">
                  <a:lumMod val="50000"/>
                </a:schemeClr>
              </a:solidFill>
              <a:latin typeface="Calibri"/>
              <a:ea typeface="微軟正黑體"/>
              <a:cs typeface="Arial"/>
            </a:endParaRPr>
          </a:p>
          <a:p>
            <a:endParaRPr kumimoji="1" lang="en-US" altLang="zh-TW" sz="2000" b="1" kern="0"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r>
              <a:rPr lang="en-US" altLang="zh-TW" sz="2000">
                <a:solidFill>
                  <a:schemeClr val="bg1">
                    <a:lumMod val="50000"/>
                  </a:schemeClr>
                </a:solidFill>
                <a:ea typeface="微軟正黑體"/>
                <a:cs typeface="Calibri"/>
              </a:rPr>
              <a:t>Domain— Key Area</a:t>
            </a:r>
            <a:r>
              <a:rPr lang="zh-TW" altLang="en-US" sz="2000">
                <a:solidFill>
                  <a:schemeClr val="bg1">
                    <a:lumMod val="50000"/>
                  </a:schemeClr>
                </a:solidFill>
                <a:ea typeface="微軟正黑體"/>
                <a:cs typeface="Calibri"/>
              </a:rPr>
              <a:t> </a:t>
            </a:r>
            <a:r>
              <a:rPr lang="en-US" altLang="zh-TW" sz="2000">
                <a:solidFill>
                  <a:schemeClr val="bg1">
                    <a:lumMod val="50000"/>
                  </a:schemeClr>
                </a:solidFill>
                <a:ea typeface="微軟正黑體"/>
                <a:cs typeface="Calibri"/>
              </a:rPr>
              <a:t>&amp;</a:t>
            </a:r>
            <a:r>
              <a:rPr lang="zh-TW" altLang="en-US" sz="2000">
                <a:solidFill>
                  <a:schemeClr val="bg1">
                    <a:lumMod val="50000"/>
                  </a:schemeClr>
                </a:solidFill>
                <a:ea typeface="微軟正黑體"/>
                <a:cs typeface="Calibri"/>
              </a:rPr>
              <a:t> </a:t>
            </a:r>
            <a:r>
              <a:rPr lang="en-US" altLang="zh-TW" sz="2000">
                <a:solidFill>
                  <a:schemeClr val="bg1">
                    <a:lumMod val="50000"/>
                  </a:schemeClr>
                </a:solidFill>
                <a:ea typeface="微軟正黑體"/>
                <a:cs typeface="Calibri"/>
              </a:rPr>
              <a:t>Application</a:t>
            </a:r>
            <a:br>
              <a:rPr lang="en-US" altLang="zh-TW" sz="2000" b="1">
                <a:ea typeface="微軟正黑體"/>
              </a:rPr>
            </a:br>
            <a:r>
              <a:rPr kumimoji="1" lang="en-US" altLang="zh-TW" sz="3200" b="1" kern="0">
                <a:solidFill>
                  <a:srgbClr val="002060"/>
                </a:solidFill>
                <a:latin typeface="Calibri"/>
                <a:ea typeface="微軟正黑體"/>
                <a:cs typeface="Arial"/>
              </a:rPr>
              <a:t>Sales &amp; Marketing </a:t>
            </a:r>
            <a:r>
              <a:rPr kumimoji="1" lang="en-US" altLang="zh-TW" sz="2400" b="1" i="1" u="sng" kern="0">
                <a:solidFill>
                  <a:schemeClr val="bg1">
                    <a:lumMod val="50000"/>
                  </a:schemeClr>
                </a:solidFill>
                <a:latin typeface="Calibri"/>
                <a:ea typeface="微軟正黑體"/>
                <a:cs typeface="Arial"/>
              </a:rPr>
              <a:t>(example)</a:t>
            </a:r>
            <a:endParaRPr lang="zh-TW" altLang="en-US" sz="2400" b="1" i="1" u="sng" kern="0">
              <a:solidFill>
                <a:schemeClr val="bg1">
                  <a:lumMod val="50000"/>
                </a:schemeClr>
              </a:solidFill>
              <a:latin typeface="Calibri"/>
              <a:ea typeface="微軟正黑體"/>
              <a:cs typeface="Arial"/>
            </a:endParaRPr>
          </a:p>
          <a:p>
            <a:br>
              <a:rPr lang="en-US" altLang="zh-TW" sz="2000" b="1">
                <a:ea typeface="Noto Sans S Chinese Bold" panose="020B0800000000000000" pitchFamily="34" charset="-122"/>
              </a:rPr>
            </a:br>
            <a:br>
              <a:rPr lang="en-US" altLang="zh-TW" sz="2000" b="1">
                <a:ea typeface="Noto Sans S Chinese Bold" panose="020B0800000000000000" pitchFamily="34" charset="-122"/>
              </a:rPr>
            </a:br>
            <a:endParaRPr lang="en-US" altLang="zh-TW" sz="2000" b="1">
              <a:ea typeface="Noto Sans S Chinese Bold" panose="020B0800000000000000" pitchFamily="34" charset="-122"/>
            </a:endParaRPr>
          </a:p>
          <a:p>
            <a:r>
              <a:rPr lang="en-US" altLang="zh-TW" sz="2000">
                <a:solidFill>
                  <a:srgbClr val="002060"/>
                </a:solidFill>
              </a:rPr>
              <a:t>Core Team:</a:t>
            </a:r>
          </a:p>
          <a:p>
            <a:r>
              <a:rPr lang="en-US" altLang="zh-TW" sz="2000">
                <a:solidFill>
                  <a:srgbClr val="002060"/>
                </a:solidFill>
              </a:rPr>
              <a:t>Date:</a:t>
            </a:r>
          </a:p>
          <a:p>
            <a:endParaRPr kumimoji="0" lang="zh-TW" altLang="en-US" sz="2000" b="1" i="0" u="sng" strike="noStrike" kern="1200" cap="none" spc="0" normalizeH="0" baseline="0" noProof="0">
              <a:ln>
                <a:noFill/>
              </a:ln>
              <a:effectLst/>
              <a:uLnTx/>
              <a:uFillTx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94484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522C8AD-C730-4D41-A56D-DE4FDB366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17063"/>
            <a:ext cx="11451336" cy="5494092"/>
          </a:xfrm>
        </p:spPr>
        <p:txBody>
          <a:bodyPr/>
          <a:lstStyle/>
          <a:p>
            <a:pPr lvl="0"/>
            <a:r>
              <a:rPr lang="en-US" altLang="zh-TW" sz="2000" b="1">
                <a:solidFill>
                  <a:srgbClr val="FF6600"/>
                </a:solidFill>
              </a:rPr>
              <a:t>Executive Summary 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/ </a:t>
            </a:r>
            <a:r>
              <a:rPr lang="zh-TW" altLang="en-US" sz="1400">
                <a:solidFill>
                  <a:schemeClr val="bg1">
                    <a:lumMod val="65000"/>
                  </a:schemeClr>
                </a:solidFill>
              </a:rPr>
              <a:t>專案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一頁摘要</a:t>
            </a:r>
            <a:br>
              <a:rPr lang="en-US" altLang="zh-TW" sz="140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依照目前定調的摘要頁模板撰寫，包含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 Data Input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、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AI Agent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、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Delivery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、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Resources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、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AI Platform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等資訊。</a:t>
            </a:r>
          </a:p>
          <a:p>
            <a:r>
              <a:rPr lang="en-US" altLang="zh-TW" sz="2000" b="1"/>
              <a:t>Business Scenario &amp; Pain Point 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/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業務情境與痛點</a:t>
            </a:r>
            <a:br>
              <a:rPr lang="en-US" altLang="zh-TW" sz="140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說明應用場景、使用者角色、現行流程問題與影響範圍。</a:t>
            </a:r>
          </a:p>
          <a:p>
            <a:pPr lvl="0"/>
            <a:r>
              <a:rPr lang="en-US" altLang="zh-TW" sz="2000" b="1"/>
              <a:t>Agent Workflow &amp; Architecture 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/ Agent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運作流程與技術架構</a:t>
            </a:r>
            <a:br>
              <a:rPr lang="en-US" altLang="zh-TW" sz="140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- AI Agent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導入後流程、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Agent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如何主動決策、如何與資料或系統互動，以及整體系統架構。</a:t>
            </a:r>
          </a:p>
          <a:p>
            <a:r>
              <a:rPr lang="en-US" altLang="zh-TW" sz="2000" b="1" err="1"/>
              <a:t>OpenClaw</a:t>
            </a:r>
            <a:r>
              <a:rPr lang="en-US" altLang="zh-TW" sz="2000" b="1"/>
              <a:t> / </a:t>
            </a:r>
            <a:r>
              <a:rPr lang="en-US" altLang="zh-TW" sz="2000" b="1" err="1"/>
              <a:t>NemoClaw</a:t>
            </a:r>
            <a:r>
              <a:rPr lang="en-US" altLang="zh-TW" sz="2000" b="1"/>
              <a:t> / Hermes Agent Alignment 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/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新方向對應說明</a:t>
            </a:r>
            <a:br>
              <a:rPr lang="en-US" altLang="zh-TW" sz="140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說明</a:t>
            </a:r>
            <a:r>
              <a:rPr lang="zh-TW" altLang="en-US" sz="1400">
                <a:solidFill>
                  <a:schemeClr val="bg1">
                    <a:lumMod val="65000"/>
                  </a:schemeClr>
                </a:solidFill>
              </a:rPr>
              <a:t>專案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是否已包含相關概念，或未來是否具備進一步結合、延伸與落地應用的可能性。</a:t>
            </a:r>
          </a:p>
          <a:p>
            <a:r>
              <a:rPr lang="en-US" altLang="zh-TW" sz="2000" b="1"/>
              <a:t>Demo / Prototype / Current Progress 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/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目前成果與展示</a:t>
            </a:r>
            <a:br>
              <a:rPr lang="en-US" altLang="zh-TW" sz="140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包含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 Demo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畫面、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Prototype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、影片連結、測試結果或目前完成度。</a:t>
            </a:r>
          </a:p>
          <a:p>
            <a:pPr lvl="0"/>
            <a:r>
              <a:rPr lang="en-US" altLang="zh-TW" sz="2000" b="1">
                <a:solidFill>
                  <a:srgbClr val="FF6600"/>
                </a:solidFill>
              </a:rPr>
              <a:t>Business Impact &amp; Quantified Benefits 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/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商業價值與量化效益</a:t>
            </a:r>
            <a:br>
              <a:rPr lang="en-US" altLang="zh-TW" sz="140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說明生產力提升、流程優化、成本節省、準確率提升、營收效益或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 ROI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等可量化成果。</a:t>
            </a:r>
          </a:p>
          <a:p>
            <a:r>
              <a:rPr lang="en-US" altLang="zh-TW" sz="2000" b="1"/>
              <a:t>Feasibility &amp; Scaling Plan 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/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落地可行性與後續推廣規劃</a:t>
            </a:r>
            <a:br>
              <a:rPr lang="en-US" altLang="zh-TW" sz="140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說明後續落地方式、風險限制、可擴展至哪些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 BU / Domain / Region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，或是否具備商業推廣潛力。</a:t>
            </a:r>
            <a:endParaRPr lang="en-US" altLang="zh-TW" sz="140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TW" sz="2000" b="1"/>
              <a:t>Appendix.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補充資料</a:t>
            </a:r>
            <a:br>
              <a:rPr lang="en-US" altLang="zh-TW" sz="140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技術細節、測試數據、流程截圖、</a:t>
            </a:r>
            <a:r>
              <a:rPr lang="en-US" altLang="zh-TW" sz="1400">
                <a:solidFill>
                  <a:schemeClr val="bg1">
                    <a:lumMod val="65000"/>
                  </a:schemeClr>
                </a:solidFill>
              </a:rPr>
              <a:t>Prompt / Agent </a:t>
            </a:r>
            <a:r>
              <a:rPr lang="zh-TW" altLang="zh-TW" sz="1400">
                <a:solidFill>
                  <a:schemeClr val="bg1">
                    <a:lumMod val="65000"/>
                  </a:schemeClr>
                </a:solidFill>
              </a:rPr>
              <a:t>設計或其他補充文件。</a:t>
            </a:r>
          </a:p>
          <a:p>
            <a:endParaRPr lang="zh-TW" altLang="en-US" sz="140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D0F53B-9503-4D65-A062-A4BD36A48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502"/>
            <a:ext cx="10972800" cy="1007533"/>
          </a:xfrm>
        </p:spPr>
        <p:txBody>
          <a:bodyPr/>
          <a:lstStyle/>
          <a:p>
            <a:r>
              <a:rPr lang="en-US" altLang="zh-TW" sz="3600"/>
              <a:t>TOC</a:t>
            </a:r>
            <a:r>
              <a:rPr lang="zh-TW" altLang="en-US" sz="3600"/>
              <a:t> </a:t>
            </a:r>
            <a:r>
              <a:rPr lang="en-US" altLang="zh-TW" sz="3600"/>
              <a:t>- Table of Content</a:t>
            </a:r>
            <a:endParaRPr lang="zh-TW" altLang="en-US" sz="3600"/>
          </a:p>
        </p:txBody>
      </p:sp>
    </p:spTree>
    <p:extLst>
      <p:ext uri="{BB962C8B-B14F-4D97-AF65-F5344CB8AC3E}">
        <p14:creationId xmlns:p14="http://schemas.microsoft.com/office/powerpoint/2010/main" val="77280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A8C4A3D-1822-4109-7AA6-B510AC999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sz="1800" b="1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清楚的實作流程圖</a:t>
            </a:r>
            <a:r>
              <a:rPr lang="zh-TW" altLang="zh-TW" sz="1800">
                <a:effectLst/>
                <a:latin typeface="Calibri"/>
                <a:ea typeface="微軟正黑體"/>
                <a:cs typeface="新細明體" panose="02020500000000000000" pitchFamily="18" charset="-120"/>
              </a:rPr>
              <a:t> </a:t>
            </a:r>
            <a:r>
              <a:rPr lang="en-US" altLang="zh-TW" sz="1800">
                <a:effectLst/>
                <a:latin typeface="Calibri"/>
                <a:ea typeface="微軟正黑體"/>
                <a:cs typeface="新細明體" panose="02020500000000000000" pitchFamily="18" charset="-120"/>
              </a:rPr>
              <a:t>— Data Input → AI Agents → Delivery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，於同一頁完整呈現。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sz="1800" b="1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明確指名的資料來源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— 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請具體列出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(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例如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Salesforce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、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PIS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、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CTOS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、</a:t>
            </a:r>
            <a:r>
              <a:rPr lang="en-US" altLang="zh-TW" sz="1800" err="1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IoTMart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、企業名錄、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LinkedIn 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等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)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，避免使用「內部資料」這類籠統描述。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sz="1800" b="1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明確的</a:t>
            </a:r>
            <a:r>
              <a:rPr lang="en-US" altLang="zh-TW" sz="1800" b="1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 AI Agents </a:t>
            </a:r>
            <a:r>
              <a:rPr lang="zh-TW" altLang="zh-TW" sz="1800" b="1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與其核心功能</a:t>
            </a:r>
            <a:r>
              <a:rPr lang="en-US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 — </a:t>
            </a:r>
            <a:r>
              <a:rPr lang="zh-TW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每個</a:t>
            </a:r>
            <a:r>
              <a:rPr lang="en-US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 Agent </a:t>
            </a:r>
            <a:r>
              <a:rPr lang="zh-TW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有清楚名稱與單一職責。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sz="1800" b="1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具體的交付成果與量化效益</a:t>
            </a:r>
            <a:r>
              <a:rPr lang="en-US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 — </a:t>
            </a:r>
            <a:r>
              <a:rPr lang="zh-TW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例如「</a:t>
            </a:r>
            <a:r>
              <a:rPr lang="en-US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MQL → SQL </a:t>
            </a:r>
            <a:r>
              <a:rPr lang="zh-TW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轉換率</a:t>
            </a:r>
            <a:r>
              <a:rPr lang="en-US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 30–40%</a:t>
            </a:r>
            <a:r>
              <a:rPr lang="zh-TW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」或「報價時間從一週縮短至數小時」。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sz="1800" b="1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明確的負責人</a:t>
            </a:r>
            <a:r>
              <a:rPr lang="en-US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 — Project Owner</a:t>
            </a:r>
            <a:r>
              <a:rPr lang="zh-TW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、</a:t>
            </a:r>
            <a:r>
              <a:rPr lang="en-US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Business Users (</a:t>
            </a:r>
            <a:r>
              <a:rPr lang="zh-TW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請具名並標示區域</a:t>
            </a:r>
            <a:r>
              <a:rPr lang="en-US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)</a:t>
            </a:r>
            <a:r>
              <a:rPr lang="zh-TW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、</a:t>
            </a:r>
            <a:r>
              <a:rPr lang="en-US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AI Builder</a:t>
            </a:r>
            <a:r>
              <a:rPr lang="zh-TW" altLang="zh-TW" sz="1800">
                <a:effectLst/>
                <a:ea typeface="新細明體" panose="02020500000000000000" pitchFamily="18" charset="-120"/>
                <a:cs typeface="新細明體" panose="02020500000000000000" pitchFamily="18" charset="-120"/>
              </a:rPr>
              <a:t>。</a:t>
            </a:r>
          </a:p>
          <a:p>
            <a:pPr marL="342900" lvl="0" indent="-342900">
              <a:buAutoNum type="arabicPeriod"/>
              <a:tabLst>
                <a:tab pos="457200" algn="l"/>
              </a:tabLst>
            </a:pPr>
            <a:r>
              <a:rPr lang="zh-TW" altLang="zh-TW" sz="1800" b="1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明確的</a:t>
            </a:r>
            <a:r>
              <a:rPr lang="en-US" altLang="zh-TW" sz="1800" b="1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AI </a:t>
            </a:r>
            <a:r>
              <a:rPr lang="zh-TW" altLang="zh-TW" sz="1800" b="1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技術選型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— LLM (OpenAI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、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Anthropic Claude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、</a:t>
            </a:r>
            <a:r>
              <a:rPr lang="en-US" altLang="zh-TW" sz="1800" err="1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Doubao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)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、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AI Platforms (</a:t>
            </a:r>
            <a:r>
              <a:rPr lang="en-US" sz="1800" err="1">
                <a:latin typeface="Calibri"/>
                <a:ea typeface="Calibri"/>
                <a:cs typeface="Calibri"/>
              </a:rPr>
              <a:t>NemoClaw、</a:t>
            </a:r>
            <a:r>
              <a:rPr lang="en-US" altLang="zh-TW" sz="1800" err="1">
                <a:latin typeface="Calibri"/>
                <a:ea typeface="新細明體"/>
                <a:cs typeface="Calibri"/>
              </a:rPr>
              <a:t>MS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Copilot Studio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、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Azure AI Search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、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Claude Code + MCP) 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及整合方式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(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例如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skill.md)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。</a:t>
            </a: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sz="1800" b="1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明確的起始</a:t>
            </a:r>
            <a:r>
              <a:rPr lang="en-US" altLang="zh-TW" sz="1800" b="1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domain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— 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第</a:t>
            </a:r>
            <a:r>
              <a:rPr lang="en-US" altLang="zh-TW" sz="1800">
                <a:latin typeface="Calibri"/>
                <a:ea typeface="新細明體"/>
                <a:cs typeface="新細明體" panose="02020500000000000000" pitchFamily="18" charset="-120"/>
              </a:rPr>
              <a:t> 5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頁刻意從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</a:t>
            </a:r>
            <a:r>
              <a:rPr lang="en-US" altLang="zh-TW" sz="1800" err="1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iEnergy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切入。在此謹建議先鎖定一個</a:t>
            </a:r>
            <a:r>
              <a:rPr lang="en-US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 domain</a:t>
            </a:r>
            <a:r>
              <a:rPr lang="zh-TW" altLang="zh-TW" sz="1800">
                <a:effectLst/>
                <a:latin typeface="Calibri"/>
                <a:ea typeface="新細明體"/>
                <a:cs typeface="新細明體" panose="02020500000000000000" pitchFamily="18" charset="-120"/>
              </a:rPr>
              <a:t>，將其做透，再逐步擴張。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8A834A72-D8C3-B5D3-FD89-EEEC37396F41}"/>
              </a:ext>
            </a:extLst>
          </p:cNvPr>
          <p:cNvSpPr/>
          <p:nvPr/>
        </p:nvSpPr>
        <p:spPr>
          <a:xfrm>
            <a:off x="783613" y="94777"/>
            <a:ext cx="3541499" cy="625617"/>
          </a:xfrm>
          <a:prstGeom prst="roundRect">
            <a:avLst>
              <a:gd name="adj" fmla="val 12016"/>
            </a:avLst>
          </a:prstGeom>
          <a:solidFill>
            <a:srgbClr val="003F6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 panose="020B0606030402020204" pitchFamily="34" charset="0"/>
                <a:ea typeface="+mn-ea"/>
                <a:cs typeface="+mn-cs"/>
              </a:rPr>
              <a:t>Executive</a:t>
            </a:r>
            <a:r>
              <a:rPr kumimoji="0" lang="zh-TW" altLang="en-US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 panose="020B0606030402020204" pitchFamily="34" charset="0"/>
                <a:ea typeface="+mn-ea"/>
                <a:cs typeface="+mn-cs"/>
              </a:rPr>
              <a:t> </a:t>
            </a:r>
            <a:r>
              <a:rPr kumimoji="0" lang="en-US" altLang="zh-TW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 panose="020B0606030402020204" pitchFamily="34" charset="0"/>
                <a:ea typeface="+mn-ea"/>
                <a:cs typeface="+mn-cs"/>
              </a:rPr>
              <a:t>Summary</a:t>
            </a:r>
            <a:endParaRPr kumimoji="0" lang="en-TW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 Cond" panose="020B0606030402020204" pitchFamily="34" charset="0"/>
              <a:ea typeface="+mn-ea"/>
              <a:cs typeface="+mn-cs"/>
            </a:endParaRP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964993DB-5444-411E-0724-D7BB60A2A1CF}"/>
              </a:ext>
            </a:extLst>
          </p:cNvPr>
          <p:cNvSpPr txBox="1">
            <a:spLocks/>
          </p:cNvSpPr>
          <p:nvPr/>
        </p:nvSpPr>
        <p:spPr>
          <a:xfrm>
            <a:off x="4325112" y="24616"/>
            <a:ext cx="7346429" cy="7868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163C61"/>
                </a:solidFill>
                <a:effectLst/>
                <a:uLnTx/>
                <a:uFillTx/>
                <a:latin typeface="Franklin Gothic Demi Cond" panose="020B0603020102020204" pitchFamily="34" charset="0"/>
                <a:ea typeface="Noto Sans S Chinese Bold" panose="020B0800000000000000" pitchFamily="34" charset="-122"/>
                <a:cs typeface="+mj-cs"/>
              </a:rPr>
              <a:t>一頁式摘要</a:t>
            </a:r>
            <a:endParaRPr kumimoji="0" lang="en-TW" sz="36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Franklin Gothic Demi Cond" panose="020B06030201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8264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8" name="矩形 34">
            <a:extLst>
              <a:ext uri="{FF2B5EF4-FFF2-40B4-BE49-F238E27FC236}">
                <a16:creationId xmlns:a16="http://schemas.microsoft.com/office/drawing/2014/main" id="{5DEFEBFD-03C9-B778-5C4C-C870C811AF47}"/>
              </a:ext>
            </a:extLst>
          </p:cNvPr>
          <p:cNvSpPr/>
          <p:nvPr/>
        </p:nvSpPr>
        <p:spPr>
          <a:xfrm>
            <a:off x="6130660" y="5403629"/>
            <a:ext cx="1193684" cy="449326"/>
          </a:xfrm>
          <a:prstGeom prst="rect">
            <a:avLst/>
          </a:prstGeom>
          <a:solidFill>
            <a:srgbClr val="0F6FC6">
              <a:lumMod val="20000"/>
              <a:lumOff val="80000"/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</a:rPr>
              <a:t>AI Platforms</a:t>
            </a:r>
            <a:endParaRPr kumimoji="0" lang="zh-TW" altLang="en-US" sz="1400" b="1" i="0" u="none" strike="noStrike" kern="0" cap="none" spc="0" normalizeH="0" baseline="0" noProof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4116" name="矩形 34">
            <a:extLst>
              <a:ext uri="{FF2B5EF4-FFF2-40B4-BE49-F238E27FC236}">
                <a16:creationId xmlns:a16="http://schemas.microsoft.com/office/drawing/2014/main" id="{A4381499-BA2A-F104-1400-8ED51825486F}"/>
              </a:ext>
            </a:extLst>
          </p:cNvPr>
          <p:cNvSpPr/>
          <p:nvPr/>
        </p:nvSpPr>
        <p:spPr>
          <a:xfrm>
            <a:off x="783613" y="5403628"/>
            <a:ext cx="1121828" cy="449327"/>
          </a:xfrm>
          <a:prstGeom prst="rect">
            <a:avLst/>
          </a:prstGeom>
          <a:solidFill>
            <a:srgbClr val="E3EDE4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新細明體" panose="02020500000000000000" pitchFamily="18" charset="-120"/>
                <a:cs typeface="+mn-cs"/>
              </a:rPr>
              <a:t>Resource</a:t>
            </a:r>
            <a:endParaRPr kumimoji="0" lang="zh-TW" altLang="en-US" sz="1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D73028AF-26C1-2AFF-F714-D72EF28B0FE3}"/>
              </a:ext>
            </a:extLst>
          </p:cNvPr>
          <p:cNvSpPr/>
          <p:nvPr/>
        </p:nvSpPr>
        <p:spPr>
          <a:xfrm>
            <a:off x="783613" y="94777"/>
            <a:ext cx="3186961" cy="625617"/>
          </a:xfrm>
          <a:prstGeom prst="roundRect">
            <a:avLst>
              <a:gd name="adj" fmla="val 12016"/>
            </a:avLst>
          </a:prstGeom>
          <a:solidFill>
            <a:srgbClr val="003F6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Franklin Gothic Demi Cond" panose="020B0603020102020204" pitchFamily="34" charset="0"/>
                <a:ea typeface="Noto Sans S Chinese Bold" panose="020B0800000000000000" pitchFamily="34" charset="-122"/>
                <a:cs typeface="+mj-cs"/>
              </a:rPr>
              <a:t>Product Offering</a:t>
            </a:r>
            <a:endParaRPr kumimoji="0" lang="en-TW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 Cond" panose="020B0606030402020204" pitchFamily="34" charset="0"/>
              <a:ea typeface="+mn-ea"/>
              <a:cs typeface="+mn-cs"/>
            </a:endParaRPr>
          </a:p>
        </p:txBody>
      </p:sp>
      <p:grpSp>
        <p:nvGrpSpPr>
          <p:cNvPr id="5" name="Group 53">
            <a:extLst>
              <a:ext uri="{FF2B5EF4-FFF2-40B4-BE49-F238E27FC236}">
                <a16:creationId xmlns:a16="http://schemas.microsoft.com/office/drawing/2014/main" id="{10A51FFF-A9A1-7FA5-2339-6213459F3A97}"/>
              </a:ext>
            </a:extLst>
          </p:cNvPr>
          <p:cNvGrpSpPr/>
          <p:nvPr/>
        </p:nvGrpSpPr>
        <p:grpSpPr>
          <a:xfrm>
            <a:off x="8543661" y="874210"/>
            <a:ext cx="1587676" cy="307685"/>
            <a:chOff x="2046432" y="801733"/>
            <a:chExt cx="1587676" cy="307685"/>
          </a:xfrm>
        </p:grpSpPr>
        <p:sp>
          <p:nvSpPr>
            <p:cNvPr id="7" name="Rectangle 54">
              <a:extLst>
                <a:ext uri="{FF2B5EF4-FFF2-40B4-BE49-F238E27FC236}">
                  <a16:creationId xmlns:a16="http://schemas.microsoft.com/office/drawing/2014/main" id="{A57F089E-5176-EAF1-AB6A-329AB528E016}"/>
                </a:ext>
              </a:extLst>
            </p:cNvPr>
            <p:cNvSpPr/>
            <p:nvPr/>
          </p:nvSpPr>
          <p:spPr>
            <a:xfrm>
              <a:off x="2103490" y="801733"/>
              <a:ext cx="1530618" cy="307685"/>
            </a:xfrm>
            <a:prstGeom prst="rect">
              <a:avLst/>
            </a:prstGeom>
            <a:solidFill>
              <a:srgbClr val="F9FAF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W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Franklin Gothic Medium Cond" panose="020B0606030402020204" pitchFamily="34" charset="0"/>
                  <a:ea typeface="+mn-ea"/>
                  <a:cs typeface="+mn-cs"/>
                </a:rPr>
                <a:t>Delivery</a:t>
              </a:r>
            </a:p>
          </p:txBody>
        </p:sp>
        <p:sp>
          <p:nvSpPr>
            <p:cNvPr id="8" name="Rectangle 55">
              <a:extLst>
                <a:ext uri="{FF2B5EF4-FFF2-40B4-BE49-F238E27FC236}">
                  <a16:creationId xmlns:a16="http://schemas.microsoft.com/office/drawing/2014/main" id="{A5DFD915-CBB0-02C3-3321-B64D39C41EC1}"/>
                </a:ext>
              </a:extLst>
            </p:cNvPr>
            <p:cNvSpPr/>
            <p:nvPr/>
          </p:nvSpPr>
          <p:spPr>
            <a:xfrm>
              <a:off x="2046432" y="801733"/>
              <a:ext cx="54000" cy="307685"/>
            </a:xfrm>
            <a:prstGeom prst="rect">
              <a:avLst/>
            </a:prstGeom>
            <a:solidFill>
              <a:srgbClr val="95B04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W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Franklin Gothic Medium Cond" panose="020B06060304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1" name="Triangle 4168">
            <a:extLst>
              <a:ext uri="{FF2B5EF4-FFF2-40B4-BE49-F238E27FC236}">
                <a16:creationId xmlns:a16="http://schemas.microsoft.com/office/drawing/2014/main" id="{6988D23E-930B-DBD8-2EA7-5E4A2845E8E7}"/>
              </a:ext>
            </a:extLst>
          </p:cNvPr>
          <p:cNvSpPr/>
          <p:nvPr/>
        </p:nvSpPr>
        <p:spPr>
          <a:xfrm rot="5400000">
            <a:off x="4111841" y="3256990"/>
            <a:ext cx="1302915" cy="290152"/>
          </a:xfrm>
          <a:prstGeom prst="triangle">
            <a:avLst/>
          </a:prstGeom>
          <a:gradFill>
            <a:gsLst>
              <a:gs pos="100000">
                <a:srgbClr val="0F6FC6">
                  <a:lumMod val="5000"/>
                  <a:lumOff val="95000"/>
                  <a:alpha val="46888"/>
                </a:srgbClr>
              </a:gs>
              <a:gs pos="0">
                <a:srgbClr val="C2D4E4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itle 8">
            <a:extLst>
              <a:ext uri="{FF2B5EF4-FFF2-40B4-BE49-F238E27FC236}">
                <a16:creationId xmlns:a16="http://schemas.microsoft.com/office/drawing/2014/main" id="{C783FAA0-D541-29D8-6B56-FE4082A10E47}"/>
              </a:ext>
            </a:extLst>
          </p:cNvPr>
          <p:cNvSpPr txBox="1">
            <a:spLocks/>
          </p:cNvSpPr>
          <p:nvPr/>
        </p:nvSpPr>
        <p:spPr>
          <a:xfrm>
            <a:off x="3970574" y="24616"/>
            <a:ext cx="7700967" cy="7868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163C61"/>
                </a:solidFill>
                <a:effectLst/>
                <a:uLnTx/>
                <a:uFillTx/>
                <a:latin typeface="Franklin Gothic Demi Cond" panose="020B0603020102020204" pitchFamily="34" charset="0"/>
                <a:ea typeface="Noto Sans S Chinese Bold" panose="020B0800000000000000" pitchFamily="34" charset="-122"/>
                <a:cs typeface="+mj-cs"/>
              </a:rPr>
              <a:t>Claw-enabled AI Agent for Sales Process</a:t>
            </a:r>
            <a:endParaRPr kumimoji="0" lang="en-TW" sz="36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Franklin Gothic Demi Cond" panose="020B0603020102020204" pitchFamily="34" charset="0"/>
              <a:ea typeface="+mj-ea"/>
              <a:cs typeface="+mj-cs"/>
            </a:endParaRP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0CC1290A-849C-6E10-C0EC-82803CEE46EC}"/>
              </a:ext>
            </a:extLst>
          </p:cNvPr>
          <p:cNvSpPr txBox="1"/>
          <p:nvPr/>
        </p:nvSpPr>
        <p:spPr>
          <a:xfrm>
            <a:off x="5531940" y="1495011"/>
            <a:ext cx="2425407" cy="309600"/>
          </a:xfrm>
          <a:prstGeom prst="rect">
            <a:avLst/>
          </a:prstGeom>
          <a:solidFill>
            <a:srgbClr val="2A5E8F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TW" sz="1400" err="1">
                <a:solidFill>
                  <a:prstClr val="white"/>
                </a:solidFill>
                <a:latin typeface="Franklin Gothic Medium Cond" panose="020B0606030402020204" pitchFamily="34" charset="0"/>
              </a:rPr>
              <a:t>Engery</a:t>
            </a:r>
            <a:r>
              <a:rPr lang="en-US" altLang="zh-TW" sz="1400">
                <a:solidFill>
                  <a:prstClr val="white"/>
                </a:solidFill>
                <a:latin typeface="Franklin Gothic Medium Cond" panose="020B0606030402020204" pitchFamily="34" charset="0"/>
              </a:rPr>
              <a:t> Solution Recommendation</a:t>
            </a:r>
            <a:endParaRPr lang="en-TW" sz="1400">
              <a:solidFill>
                <a:prstClr val="white"/>
              </a:solidFill>
              <a:latin typeface="Franklin Gothic Medium Cond" panose="020B0606030402020204" pitchFamily="34" charset="0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4F969F24-0B6E-434C-57D4-61F6D9B6B6C9}"/>
              </a:ext>
            </a:extLst>
          </p:cNvPr>
          <p:cNvSpPr txBox="1"/>
          <p:nvPr/>
        </p:nvSpPr>
        <p:spPr>
          <a:xfrm>
            <a:off x="5144667" y="1882718"/>
            <a:ext cx="279934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Energy Management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Carbon Management</a:t>
            </a:r>
            <a:endParaRPr lang="en-US" altLang="zh-TW" sz="1400">
              <a:solidFill>
                <a:srgbClr val="2A5E8F"/>
              </a:solidFill>
              <a:latin typeface="Franklin Gothic Medium Cond" panose="020B06060304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Equipment </a:t>
            </a:r>
            <a:r>
              <a:rPr lang="en-US" altLang="zh-TW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Health Monitoring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HVAC and Compressor Optimization</a:t>
            </a:r>
            <a:endParaRPr lang="en-TW" sz="1400">
              <a:solidFill>
                <a:srgbClr val="2A5E8F"/>
              </a:solidFill>
              <a:latin typeface="Franklin Gothic Medium Cond" panose="020B0606030402020204" pitchFamily="34" charset="0"/>
            </a:endParaRP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FF1E8376-8F40-8C2E-3B31-933FC183C96F}"/>
              </a:ext>
            </a:extLst>
          </p:cNvPr>
          <p:cNvSpPr txBox="1"/>
          <p:nvPr/>
        </p:nvSpPr>
        <p:spPr>
          <a:xfrm>
            <a:off x="5531941" y="3224350"/>
            <a:ext cx="2486244" cy="307777"/>
          </a:xfrm>
          <a:prstGeom prst="rect">
            <a:avLst/>
          </a:prstGeom>
          <a:solidFill>
            <a:srgbClr val="2A5E8F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TW" sz="1400">
                <a:solidFill>
                  <a:prstClr val="white"/>
                </a:solidFill>
                <a:latin typeface="Franklin Gothic Medium Cond" panose="020B0606030402020204" pitchFamily="34" charset="0"/>
              </a:rPr>
              <a:t>Product Spec Recommendation</a:t>
            </a:r>
            <a:endParaRPr lang="en-TW" sz="1400">
              <a:solidFill>
                <a:prstClr val="white"/>
              </a:solidFill>
              <a:latin typeface="Franklin Gothic Medium Cond" panose="020B0606030402020204" pitchFamily="34" charset="0"/>
            </a:endParaRPr>
          </a:p>
        </p:txBody>
      </p:sp>
      <p:sp>
        <p:nvSpPr>
          <p:cNvPr id="31" name="TextBox 50">
            <a:extLst>
              <a:ext uri="{FF2B5EF4-FFF2-40B4-BE49-F238E27FC236}">
                <a16:creationId xmlns:a16="http://schemas.microsoft.com/office/drawing/2014/main" id="{AB9252CC-6508-B14C-6386-747EDE65DA1C}"/>
              </a:ext>
            </a:extLst>
          </p:cNvPr>
          <p:cNvSpPr txBox="1"/>
          <p:nvPr/>
        </p:nvSpPr>
        <p:spPr>
          <a:xfrm>
            <a:off x="5144667" y="3556998"/>
            <a:ext cx="27993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Model Selection and Component Selection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Compatibility</a:t>
            </a:r>
            <a:r>
              <a:rPr lang="zh-TW" altLang="en-US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 </a:t>
            </a:r>
            <a:r>
              <a:rPr lang="en-US" altLang="zh-TW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Validation</a:t>
            </a:r>
            <a:endParaRPr lang="en-US" sz="1400">
              <a:solidFill>
                <a:srgbClr val="2A5E8F"/>
              </a:solidFill>
              <a:latin typeface="Franklin Gothic Medium Cond" panose="020B06060304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Certification </a:t>
            </a:r>
            <a:r>
              <a:rPr lang="en-US" altLang="zh-TW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Validation</a:t>
            </a:r>
            <a:endParaRPr lang="en-US" sz="1400">
              <a:solidFill>
                <a:srgbClr val="2A5E8F"/>
              </a:solidFill>
              <a:latin typeface="Franklin Gothic Medium Cond" panose="020B0606030402020204" pitchFamily="34" charset="0"/>
            </a:endParaRPr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9AAF1031-7BE5-2163-3F63-D6D361088027}"/>
              </a:ext>
            </a:extLst>
          </p:cNvPr>
          <p:cNvSpPr/>
          <p:nvPr/>
        </p:nvSpPr>
        <p:spPr>
          <a:xfrm>
            <a:off x="783614" y="1227482"/>
            <a:ext cx="3748480" cy="3999127"/>
          </a:xfrm>
          <a:prstGeom prst="roundRect">
            <a:avLst>
              <a:gd name="adj" fmla="val 2313"/>
            </a:avLst>
          </a:prstGeom>
          <a:noFill/>
          <a:ln w="12700" cap="flat" cmpd="sng" algn="ctr">
            <a:solidFill>
              <a:srgbClr val="C9C9C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0" name="Picture 4" descr="Explore 31,334+ Free User-Icon Illustrations: Download Now - Pixabay">
            <a:extLst>
              <a:ext uri="{FF2B5EF4-FFF2-40B4-BE49-F238E27FC236}">
                <a16:creationId xmlns:a16="http://schemas.microsoft.com/office/drawing/2014/main" id="{1B3E0E18-5099-3F0F-C1D8-1D8A0951A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248" y="248930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Explore 31,334+ Free User-Icon Illustrations: Download Now - Pixabay">
            <a:extLst>
              <a:ext uri="{FF2B5EF4-FFF2-40B4-BE49-F238E27FC236}">
                <a16:creationId xmlns:a16="http://schemas.microsoft.com/office/drawing/2014/main" id="{2F53E8DF-CE68-0999-1835-98F66A372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0994" y="162009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文字方塊 1043">
            <a:extLst>
              <a:ext uri="{FF2B5EF4-FFF2-40B4-BE49-F238E27FC236}">
                <a16:creationId xmlns:a16="http://schemas.microsoft.com/office/drawing/2014/main" id="{495CA884-740C-7F01-7713-ACEA34A0361F}"/>
              </a:ext>
            </a:extLst>
          </p:cNvPr>
          <p:cNvSpPr txBox="1"/>
          <p:nvPr/>
        </p:nvSpPr>
        <p:spPr>
          <a:xfrm>
            <a:off x="8593786" y="2531862"/>
            <a:ext cx="1495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600">
                <a:solidFill>
                  <a:srgbClr val="163C61"/>
                </a:solidFill>
                <a:latin typeface="Franklin Gothic Demi Cond" panose="020B0603020102020204" pitchFamily="34" charset="0"/>
              </a:defRPr>
            </a:lvl1pPr>
          </a:lstStyle>
          <a:p>
            <a:pPr algn="ctr">
              <a:defRPr/>
            </a:pPr>
            <a:r>
              <a:rPr lang="en-US" altLang="zh-TW" sz="1400">
                <a:latin typeface="Franklin Gothic Medium Cond" panose="020B0606030402020204" pitchFamily="34" charset="0"/>
              </a:rPr>
              <a:t>CSF</a:t>
            </a:r>
          </a:p>
        </p:txBody>
      </p:sp>
      <p:sp>
        <p:nvSpPr>
          <p:cNvPr id="48" name="文字方塊 1043">
            <a:extLst>
              <a:ext uri="{FF2B5EF4-FFF2-40B4-BE49-F238E27FC236}">
                <a16:creationId xmlns:a16="http://schemas.microsoft.com/office/drawing/2014/main" id="{C26170DB-524A-72A7-1F34-A1B4138B4242}"/>
              </a:ext>
            </a:extLst>
          </p:cNvPr>
          <p:cNvSpPr txBox="1"/>
          <p:nvPr/>
        </p:nvSpPr>
        <p:spPr>
          <a:xfrm>
            <a:off x="8753629" y="1635505"/>
            <a:ext cx="1146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600">
                <a:solidFill>
                  <a:srgbClr val="163C61"/>
                </a:solidFill>
                <a:latin typeface="Franklin Gothic Demi Cond" panose="020B0603020102020204" pitchFamily="34" charset="0"/>
              </a:defRPr>
            </a:lvl1pPr>
          </a:lstStyle>
          <a:p>
            <a:pPr algn="ctr">
              <a:defRPr/>
            </a:pPr>
            <a:r>
              <a:rPr lang="en-US" altLang="zh-TW" sz="1400">
                <a:latin typeface="Franklin Gothic Medium Cond" panose="020B0606030402020204" pitchFamily="34" charset="0"/>
              </a:rPr>
              <a:t>KA</a:t>
            </a:r>
          </a:p>
        </p:txBody>
      </p:sp>
      <p:pic>
        <p:nvPicPr>
          <p:cNvPr id="60" name="Graphic 37" descr="World with solid fill">
            <a:extLst>
              <a:ext uri="{FF2B5EF4-FFF2-40B4-BE49-F238E27FC236}">
                <a16:creationId xmlns:a16="http://schemas.microsoft.com/office/drawing/2014/main" id="{0789D436-46EE-E145-6497-5208358D1A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286" y="1982175"/>
            <a:ext cx="180000" cy="180000"/>
          </a:xfrm>
          <a:prstGeom prst="rect">
            <a:avLst/>
          </a:prstGeom>
        </p:spPr>
      </p:pic>
      <p:pic>
        <p:nvPicPr>
          <p:cNvPr id="61" name="Graphic 41" descr="Chat with solid fill">
            <a:extLst>
              <a:ext uri="{FF2B5EF4-FFF2-40B4-BE49-F238E27FC236}">
                <a16:creationId xmlns:a16="http://schemas.microsoft.com/office/drawing/2014/main" id="{B17F1A7B-ADEE-AE28-E476-EDD89BEB0F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0286" y="2413337"/>
            <a:ext cx="180000" cy="180000"/>
          </a:xfrm>
          <a:prstGeom prst="rect">
            <a:avLst/>
          </a:prstGeom>
        </p:spPr>
      </p:pic>
      <p:pic>
        <p:nvPicPr>
          <p:cNvPr id="4103" name="Picture 14">
            <a:extLst>
              <a:ext uri="{FF2B5EF4-FFF2-40B4-BE49-F238E27FC236}">
                <a16:creationId xmlns:a16="http://schemas.microsoft.com/office/drawing/2014/main" id="{24841AC7-09DF-4237-3553-572D107C2B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9976" y="1469811"/>
            <a:ext cx="376120" cy="360000"/>
          </a:xfrm>
          <a:prstGeom prst="rect">
            <a:avLst/>
          </a:prstGeom>
        </p:spPr>
      </p:pic>
      <p:pic>
        <p:nvPicPr>
          <p:cNvPr id="4109" name="Picture 16">
            <a:extLst>
              <a:ext uri="{FF2B5EF4-FFF2-40B4-BE49-F238E27FC236}">
                <a16:creationId xmlns:a16="http://schemas.microsoft.com/office/drawing/2014/main" id="{9638DBBF-AA92-0DC8-D1B9-A5A05CA21B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9976" y="3198237"/>
            <a:ext cx="376120" cy="360000"/>
          </a:xfrm>
          <a:prstGeom prst="rect">
            <a:avLst/>
          </a:prstGeom>
        </p:spPr>
      </p:pic>
      <p:sp>
        <p:nvSpPr>
          <p:cNvPr id="4110" name="Rounded Rectangle 102">
            <a:extLst>
              <a:ext uri="{FF2B5EF4-FFF2-40B4-BE49-F238E27FC236}">
                <a16:creationId xmlns:a16="http://schemas.microsoft.com/office/drawing/2014/main" id="{9785B4AC-8E1C-F134-8ADE-C95942C5B2D8}"/>
              </a:ext>
            </a:extLst>
          </p:cNvPr>
          <p:cNvSpPr/>
          <p:nvPr/>
        </p:nvSpPr>
        <p:spPr>
          <a:xfrm>
            <a:off x="783613" y="5373290"/>
            <a:ext cx="5222161" cy="1396817"/>
          </a:xfrm>
          <a:prstGeom prst="roundRect">
            <a:avLst>
              <a:gd name="adj" fmla="val 0"/>
            </a:avLst>
          </a:prstGeom>
          <a:noFill/>
          <a:ln w="571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14" name="文字方塊 286">
            <a:extLst>
              <a:ext uri="{FF2B5EF4-FFF2-40B4-BE49-F238E27FC236}">
                <a16:creationId xmlns:a16="http://schemas.microsoft.com/office/drawing/2014/main" id="{B876704C-A17B-57DA-EFF0-682B7E1A0B0C}"/>
              </a:ext>
            </a:extLst>
          </p:cNvPr>
          <p:cNvSpPr txBox="1"/>
          <p:nvPr/>
        </p:nvSpPr>
        <p:spPr>
          <a:xfrm>
            <a:off x="840481" y="5953582"/>
            <a:ext cx="1160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TW" sz="1400" b="1" u="sng">
                <a:solidFill>
                  <a:prstClr val="black"/>
                </a:solidFill>
                <a:latin typeface="Franklin Gothic Medium Cond" panose="020B0606030402020204" pitchFamily="34" charset="0"/>
              </a:rPr>
              <a:t>Project Owner</a:t>
            </a:r>
            <a:r>
              <a:rPr lang="en-US" altLang="zh-TW" sz="1400" b="1">
                <a:solidFill>
                  <a:prstClr val="black"/>
                </a:solidFill>
                <a:latin typeface="Franklin Gothic Medium Cond" panose="020B0606030402020204" pitchFamily="34" charset="0"/>
              </a:rPr>
              <a:t>: </a:t>
            </a:r>
            <a:b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</a:br>
            <a: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  <a:t>Jeff Huang</a:t>
            </a:r>
          </a:p>
        </p:txBody>
      </p:sp>
      <p:sp>
        <p:nvSpPr>
          <p:cNvPr id="4117" name="文字方塊 286">
            <a:extLst>
              <a:ext uri="{FF2B5EF4-FFF2-40B4-BE49-F238E27FC236}">
                <a16:creationId xmlns:a16="http://schemas.microsoft.com/office/drawing/2014/main" id="{713599CC-B72A-19F2-1E4F-C6CCB34A17B6}"/>
              </a:ext>
            </a:extLst>
          </p:cNvPr>
          <p:cNvSpPr txBox="1"/>
          <p:nvPr/>
        </p:nvSpPr>
        <p:spPr>
          <a:xfrm>
            <a:off x="1938819" y="5458835"/>
            <a:ext cx="401547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altLang="zh-TW" sz="1400" b="1" u="sng">
                <a:solidFill>
                  <a:prstClr val="black"/>
                </a:solidFill>
                <a:latin typeface="Franklin Gothic Medium Cond" panose="020B0606030402020204" pitchFamily="34" charset="0"/>
              </a:rPr>
              <a:t>Biz Users</a:t>
            </a:r>
            <a:r>
              <a:rPr lang="en-US" altLang="zh-TW" sz="1400" b="1">
                <a:solidFill>
                  <a:prstClr val="black"/>
                </a:solidFill>
                <a:latin typeface="Franklin Gothic Medium Cond" panose="020B0606030402020204" pitchFamily="34" charset="0"/>
              </a:rPr>
              <a:t>: </a:t>
            </a:r>
            <a:b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</a:br>
            <a: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  <a:t>(ATW)</a:t>
            </a:r>
            <a:r>
              <a:rPr lang="zh-TW" altLang="en-US" sz="1400">
                <a:solidFill>
                  <a:srgbClr val="004280"/>
                </a:solidFill>
                <a:latin typeface="Franklin Gothic Medium Cond" panose="020B0606030402020204" pitchFamily="34" charset="0"/>
              </a:rPr>
              <a:t> </a:t>
            </a:r>
            <a: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  <a:t>Brian Hsiao, Veronica, Cooper, </a:t>
            </a:r>
            <a:b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</a:br>
            <a: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  <a:t>(ACN)</a:t>
            </a:r>
            <a:r>
              <a:rPr lang="zh-TW" altLang="en-US" sz="1400">
                <a:solidFill>
                  <a:srgbClr val="004280"/>
                </a:solidFill>
                <a:latin typeface="Franklin Gothic Medium Cond" panose="020B0606030402020204" pitchFamily="34" charset="0"/>
              </a:rPr>
              <a:t> </a:t>
            </a:r>
            <a: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  <a:t>Allan.Tsay, </a:t>
            </a:r>
            <a:r>
              <a:rPr lang="en-US" altLang="zh-TW" sz="1400" err="1">
                <a:solidFill>
                  <a:srgbClr val="004280"/>
                </a:solidFill>
                <a:latin typeface="Franklin Gothic Medium Cond" panose="020B0606030402020204" pitchFamily="34" charset="0"/>
              </a:rPr>
              <a:t>Kang.Ning</a:t>
            </a:r>
            <a: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  <a:t>, </a:t>
            </a:r>
          </a:p>
          <a:p>
            <a:pPr>
              <a:spcAft>
                <a:spcPts val="600"/>
              </a:spcAft>
              <a:defRPr/>
            </a:pPr>
            <a:r>
              <a:rPr lang="en-US" altLang="zh-TW" sz="1400" b="1" u="sng">
                <a:solidFill>
                  <a:prstClr val="black"/>
                </a:solidFill>
                <a:latin typeface="Franklin Gothic Medium Cond" panose="020B0606030402020204" pitchFamily="34" charset="0"/>
              </a:rPr>
              <a:t>AI</a:t>
            </a:r>
            <a:r>
              <a:rPr lang="zh-TW" altLang="en-US" sz="1400" b="1" u="sng">
                <a:solidFill>
                  <a:prstClr val="black"/>
                </a:solidFill>
                <a:latin typeface="Franklin Gothic Medium Cond" panose="020B0606030402020204" pitchFamily="34" charset="0"/>
              </a:rPr>
              <a:t> </a:t>
            </a:r>
            <a:r>
              <a:rPr lang="en-US" altLang="zh-TW" sz="1400" b="1" u="sng">
                <a:solidFill>
                  <a:prstClr val="black"/>
                </a:solidFill>
                <a:latin typeface="Franklin Gothic Medium Cond" panose="020B0606030402020204" pitchFamily="34" charset="0"/>
              </a:rPr>
              <a:t>Builder</a:t>
            </a:r>
            <a:r>
              <a:rPr lang="en-US" altLang="zh-TW" sz="1400" b="1">
                <a:solidFill>
                  <a:prstClr val="black"/>
                </a:solidFill>
                <a:latin typeface="Franklin Gothic Medium Cond" panose="020B0606030402020204" pitchFamily="34" charset="0"/>
              </a:rPr>
              <a:t>: </a:t>
            </a:r>
            <a:b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</a:br>
            <a:r>
              <a:rPr lang="en-US" altLang="zh-TW" sz="1400">
                <a:solidFill>
                  <a:srgbClr val="004280"/>
                </a:solidFill>
                <a:latin typeface="Franklin Gothic Medium Cond" panose="020B0606030402020204" pitchFamily="34" charset="0"/>
              </a:rPr>
              <a:t>Joe Lee, Jeffrey Hsiao, Phoenixlf.Lee, Sunny11.Lin</a:t>
            </a:r>
          </a:p>
        </p:txBody>
      </p:sp>
      <p:cxnSp>
        <p:nvCxnSpPr>
          <p:cNvPr id="4120" name="Straight Connector 4123">
            <a:extLst>
              <a:ext uri="{FF2B5EF4-FFF2-40B4-BE49-F238E27FC236}">
                <a16:creationId xmlns:a16="http://schemas.microsoft.com/office/drawing/2014/main" id="{BAB9244D-0F42-BC35-4D7B-654E50BAD582}"/>
              </a:ext>
            </a:extLst>
          </p:cNvPr>
          <p:cNvCxnSpPr>
            <a:cxnSpLocks/>
          </p:cNvCxnSpPr>
          <p:nvPr/>
        </p:nvCxnSpPr>
        <p:spPr>
          <a:xfrm>
            <a:off x="1943590" y="5775198"/>
            <a:ext cx="0" cy="62017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ysDash"/>
            <a:miter lim="800000"/>
          </a:ln>
          <a:effectLst/>
        </p:spPr>
      </p:cxnSp>
      <p:sp>
        <p:nvSpPr>
          <p:cNvPr id="4121" name="Rounded Rectangle 4138">
            <a:extLst>
              <a:ext uri="{FF2B5EF4-FFF2-40B4-BE49-F238E27FC236}">
                <a16:creationId xmlns:a16="http://schemas.microsoft.com/office/drawing/2014/main" id="{553A85C0-DE6E-0A04-93B5-818AF66C7131}"/>
              </a:ext>
            </a:extLst>
          </p:cNvPr>
          <p:cNvSpPr/>
          <p:nvPr/>
        </p:nvSpPr>
        <p:spPr>
          <a:xfrm>
            <a:off x="8532901" y="1227482"/>
            <a:ext cx="3138640" cy="3996604"/>
          </a:xfrm>
          <a:prstGeom prst="roundRect">
            <a:avLst>
              <a:gd name="adj" fmla="val 6458"/>
            </a:avLst>
          </a:prstGeom>
          <a:noFill/>
          <a:ln w="12700" cap="flat" cmpd="sng" algn="ctr">
            <a:solidFill>
              <a:srgbClr val="C9C9C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22" name="Triangle 4170">
            <a:extLst>
              <a:ext uri="{FF2B5EF4-FFF2-40B4-BE49-F238E27FC236}">
                <a16:creationId xmlns:a16="http://schemas.microsoft.com/office/drawing/2014/main" id="{4B25E1CE-E895-1EF1-F2AB-DB6055CA80FC}"/>
              </a:ext>
            </a:extLst>
          </p:cNvPr>
          <p:cNvSpPr/>
          <p:nvPr/>
        </p:nvSpPr>
        <p:spPr>
          <a:xfrm rot="5400000">
            <a:off x="7723215" y="3256990"/>
            <a:ext cx="1302915" cy="290152"/>
          </a:xfrm>
          <a:prstGeom prst="triangle">
            <a:avLst/>
          </a:prstGeom>
          <a:gradFill>
            <a:gsLst>
              <a:gs pos="100000">
                <a:srgbClr val="0F6FC6">
                  <a:lumMod val="5000"/>
                  <a:lumOff val="95000"/>
                  <a:alpha val="46888"/>
                </a:srgbClr>
              </a:gs>
              <a:gs pos="0">
                <a:srgbClr val="C2D4E4"/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26" name="Rounded Rectangle 11">
            <a:extLst>
              <a:ext uri="{FF2B5EF4-FFF2-40B4-BE49-F238E27FC236}">
                <a16:creationId xmlns:a16="http://schemas.microsoft.com/office/drawing/2014/main" id="{B0169D6B-0E3D-5524-3F87-42870A3532AC}"/>
              </a:ext>
            </a:extLst>
          </p:cNvPr>
          <p:cNvSpPr/>
          <p:nvPr/>
        </p:nvSpPr>
        <p:spPr>
          <a:xfrm>
            <a:off x="4917607" y="1219481"/>
            <a:ext cx="3226603" cy="3999127"/>
          </a:xfrm>
          <a:prstGeom prst="roundRect">
            <a:avLst>
              <a:gd name="adj" fmla="val 2313"/>
            </a:avLst>
          </a:prstGeom>
          <a:noFill/>
          <a:ln w="12700" cap="flat" cmpd="sng" algn="ctr">
            <a:solidFill>
              <a:srgbClr val="C9C9C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27" name="文字方塊 1043">
            <a:extLst>
              <a:ext uri="{FF2B5EF4-FFF2-40B4-BE49-F238E27FC236}">
                <a16:creationId xmlns:a16="http://schemas.microsoft.com/office/drawing/2014/main" id="{8C325360-09E2-8813-D30F-8D77CDFFEB13}"/>
              </a:ext>
            </a:extLst>
          </p:cNvPr>
          <p:cNvSpPr txBox="1"/>
          <p:nvPr/>
        </p:nvSpPr>
        <p:spPr>
          <a:xfrm>
            <a:off x="8770994" y="4150939"/>
            <a:ext cx="1495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600">
                <a:solidFill>
                  <a:srgbClr val="163C61"/>
                </a:solidFill>
                <a:latin typeface="Franklin Gothic Demi Cond" panose="020B0603020102020204" pitchFamily="34" charset="0"/>
              </a:defRPr>
            </a:lvl1pPr>
          </a:lstStyle>
          <a:p>
            <a:pPr algn="ctr">
              <a:defRPr/>
            </a:pPr>
            <a:r>
              <a:rPr lang="en-US" altLang="zh-TW" sz="1400">
                <a:latin typeface="Franklin Gothic Medium Cond" panose="020B0606030402020204" pitchFamily="34" charset="0"/>
              </a:rPr>
              <a:t>Marketing</a:t>
            </a:r>
          </a:p>
        </p:txBody>
      </p:sp>
      <p:sp>
        <p:nvSpPr>
          <p:cNvPr id="4128" name="文字方塊 1043">
            <a:extLst>
              <a:ext uri="{FF2B5EF4-FFF2-40B4-BE49-F238E27FC236}">
                <a16:creationId xmlns:a16="http://schemas.microsoft.com/office/drawing/2014/main" id="{9D1C73D7-AAA9-A7AA-7A47-1962FCA8A7FC}"/>
              </a:ext>
            </a:extLst>
          </p:cNvPr>
          <p:cNvSpPr txBox="1"/>
          <p:nvPr/>
        </p:nvSpPr>
        <p:spPr>
          <a:xfrm>
            <a:off x="8602997" y="3318301"/>
            <a:ext cx="1495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600">
                <a:solidFill>
                  <a:srgbClr val="163C61"/>
                </a:solidFill>
                <a:latin typeface="Franklin Gothic Demi Cond" panose="020B0603020102020204" pitchFamily="34" charset="0"/>
              </a:defRPr>
            </a:lvl1pPr>
          </a:lstStyle>
          <a:p>
            <a:pPr algn="ctr">
              <a:defRPr/>
            </a:pPr>
            <a:r>
              <a:rPr lang="en-US" altLang="zh-TW" sz="1400">
                <a:latin typeface="Franklin Gothic Medium Cond" panose="020B0606030402020204" pitchFamily="34" charset="0"/>
              </a:rPr>
              <a:t>OSF</a:t>
            </a:r>
          </a:p>
        </p:txBody>
      </p:sp>
      <p:pic>
        <p:nvPicPr>
          <p:cNvPr id="4129" name="Picture 2" descr="Download Free Personal email Icons in PNG &amp; SVG">
            <a:extLst>
              <a:ext uri="{FF2B5EF4-FFF2-40B4-BE49-F238E27FC236}">
                <a16:creationId xmlns:a16="http://schemas.microsoft.com/office/drawing/2014/main" id="{8DFF0D94-0371-C3B8-A7C3-279C1745F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248" y="3272169"/>
            <a:ext cx="360000" cy="360000"/>
          </a:xfrm>
          <a:prstGeom prst="roundRect">
            <a:avLst/>
          </a:prstGeom>
          <a:noFill/>
          <a:ln>
            <a:solidFill>
              <a:sysClr val="windowText" lastClr="000000">
                <a:lumMod val="65000"/>
                <a:lumOff val="35000"/>
              </a:sys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0" name="Picture 4" descr="Article - Free communications icons">
            <a:extLst>
              <a:ext uri="{FF2B5EF4-FFF2-40B4-BE49-F238E27FC236}">
                <a16:creationId xmlns:a16="http://schemas.microsoft.com/office/drawing/2014/main" id="{7A66B879-03F0-D84E-A035-916F0A9A6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293" y="4111122"/>
            <a:ext cx="360000" cy="360000"/>
          </a:xfrm>
          <a:prstGeom prst="roundRect">
            <a:avLst/>
          </a:prstGeom>
          <a:noFill/>
          <a:ln>
            <a:solidFill>
              <a:sysClr val="windowText" lastClr="000000">
                <a:lumMod val="65000"/>
                <a:lumOff val="35000"/>
              </a:sys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1" name="TextBox 22">
            <a:extLst>
              <a:ext uri="{FF2B5EF4-FFF2-40B4-BE49-F238E27FC236}">
                <a16:creationId xmlns:a16="http://schemas.microsoft.com/office/drawing/2014/main" id="{079A8128-1237-AC14-B519-2548044306A9}"/>
              </a:ext>
            </a:extLst>
          </p:cNvPr>
          <p:cNvSpPr txBox="1"/>
          <p:nvPr/>
        </p:nvSpPr>
        <p:spPr>
          <a:xfrm rot="16200000">
            <a:off x="4303753" y="3253793"/>
            <a:ext cx="728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TW" sz="1400">
                <a:solidFill>
                  <a:srgbClr val="2A5E8F"/>
                </a:solidFill>
                <a:latin typeface="Franklin Gothic Medium Cond" panose="020B0606030402020204" pitchFamily="34" charset="0"/>
              </a:rPr>
              <a:t>skill.md</a:t>
            </a:r>
          </a:p>
        </p:txBody>
      </p:sp>
      <p:grpSp>
        <p:nvGrpSpPr>
          <p:cNvPr id="4140" name="Group 34">
            <a:extLst>
              <a:ext uri="{FF2B5EF4-FFF2-40B4-BE49-F238E27FC236}">
                <a16:creationId xmlns:a16="http://schemas.microsoft.com/office/drawing/2014/main" id="{3E5F9D48-9798-9B39-347C-1057B170BDF3}"/>
              </a:ext>
            </a:extLst>
          </p:cNvPr>
          <p:cNvGrpSpPr/>
          <p:nvPr/>
        </p:nvGrpSpPr>
        <p:grpSpPr>
          <a:xfrm>
            <a:off x="819139" y="874210"/>
            <a:ext cx="3694767" cy="307685"/>
            <a:chOff x="2046432" y="801733"/>
            <a:chExt cx="3694767" cy="307685"/>
          </a:xfrm>
        </p:grpSpPr>
        <p:sp>
          <p:nvSpPr>
            <p:cNvPr id="4141" name="Rectangle 32">
              <a:extLst>
                <a:ext uri="{FF2B5EF4-FFF2-40B4-BE49-F238E27FC236}">
                  <a16:creationId xmlns:a16="http://schemas.microsoft.com/office/drawing/2014/main" id="{667C1B39-B017-FAE4-6658-C05724FF3F16}"/>
                </a:ext>
              </a:extLst>
            </p:cNvPr>
            <p:cNvSpPr/>
            <p:nvPr/>
          </p:nvSpPr>
          <p:spPr>
            <a:xfrm>
              <a:off x="2103489" y="801733"/>
              <a:ext cx="3637710" cy="307685"/>
            </a:xfrm>
            <a:prstGeom prst="rect">
              <a:avLst/>
            </a:prstGeom>
            <a:solidFill>
              <a:srgbClr val="F9FAF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W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Franklin Gothic Medium Cond" panose="020B0606030402020204" pitchFamily="34" charset="0"/>
                  <a:ea typeface="+mn-ea"/>
                  <a:cs typeface="+mn-cs"/>
                </a:rPr>
                <a:t>Data Input</a:t>
              </a:r>
            </a:p>
          </p:txBody>
        </p:sp>
        <p:sp>
          <p:nvSpPr>
            <p:cNvPr id="4142" name="Rectangle 33">
              <a:extLst>
                <a:ext uri="{FF2B5EF4-FFF2-40B4-BE49-F238E27FC236}">
                  <a16:creationId xmlns:a16="http://schemas.microsoft.com/office/drawing/2014/main" id="{7423436D-B4F2-2420-659E-2CF3B2E94AC3}"/>
                </a:ext>
              </a:extLst>
            </p:cNvPr>
            <p:cNvSpPr/>
            <p:nvPr/>
          </p:nvSpPr>
          <p:spPr>
            <a:xfrm>
              <a:off x="2046432" y="801733"/>
              <a:ext cx="54000" cy="307685"/>
            </a:xfrm>
            <a:prstGeom prst="rect">
              <a:avLst/>
            </a:prstGeom>
            <a:solidFill>
              <a:srgbClr val="95B04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W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Franklin Gothic Medium Cond" panose="020B06060304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143" name="Group 36">
            <a:extLst>
              <a:ext uri="{FF2B5EF4-FFF2-40B4-BE49-F238E27FC236}">
                <a16:creationId xmlns:a16="http://schemas.microsoft.com/office/drawing/2014/main" id="{FE54C239-199A-D247-737C-29D586778D58}"/>
              </a:ext>
            </a:extLst>
          </p:cNvPr>
          <p:cNvGrpSpPr/>
          <p:nvPr/>
        </p:nvGrpSpPr>
        <p:grpSpPr>
          <a:xfrm>
            <a:off x="4925661" y="874210"/>
            <a:ext cx="3218549" cy="307685"/>
            <a:chOff x="2046432" y="801733"/>
            <a:chExt cx="3218549" cy="307685"/>
          </a:xfrm>
        </p:grpSpPr>
        <p:sp>
          <p:nvSpPr>
            <p:cNvPr id="4144" name="Rectangle 51">
              <a:extLst>
                <a:ext uri="{FF2B5EF4-FFF2-40B4-BE49-F238E27FC236}">
                  <a16:creationId xmlns:a16="http://schemas.microsoft.com/office/drawing/2014/main" id="{23D253B2-3240-6047-743F-6EE3FC431A1B}"/>
                </a:ext>
              </a:extLst>
            </p:cNvPr>
            <p:cNvSpPr/>
            <p:nvPr/>
          </p:nvSpPr>
          <p:spPr>
            <a:xfrm>
              <a:off x="2103489" y="801733"/>
              <a:ext cx="3161492" cy="307685"/>
            </a:xfrm>
            <a:prstGeom prst="rect">
              <a:avLst/>
            </a:prstGeom>
            <a:solidFill>
              <a:srgbClr val="F9FAF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W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Franklin Gothic Medium Cond" panose="020B0606030402020204" pitchFamily="34" charset="0"/>
                  <a:ea typeface="+mn-ea"/>
                  <a:cs typeface="+mn-cs"/>
                </a:rPr>
                <a:t>AI Agents</a:t>
              </a:r>
            </a:p>
          </p:txBody>
        </p:sp>
        <p:sp>
          <p:nvSpPr>
            <p:cNvPr id="4145" name="Rectangle 52">
              <a:extLst>
                <a:ext uri="{FF2B5EF4-FFF2-40B4-BE49-F238E27FC236}">
                  <a16:creationId xmlns:a16="http://schemas.microsoft.com/office/drawing/2014/main" id="{7E8A26A5-4E58-B7D9-C14B-5E6AA80DEBFC}"/>
                </a:ext>
              </a:extLst>
            </p:cNvPr>
            <p:cNvSpPr/>
            <p:nvPr/>
          </p:nvSpPr>
          <p:spPr>
            <a:xfrm>
              <a:off x="2046432" y="801733"/>
              <a:ext cx="54000" cy="307685"/>
            </a:xfrm>
            <a:prstGeom prst="rect">
              <a:avLst/>
            </a:prstGeom>
            <a:solidFill>
              <a:srgbClr val="95B04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W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Franklin Gothic Medium Cond" panose="020B06060304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146" name="Rounded Rectangle 102">
            <a:extLst>
              <a:ext uri="{FF2B5EF4-FFF2-40B4-BE49-F238E27FC236}">
                <a16:creationId xmlns:a16="http://schemas.microsoft.com/office/drawing/2014/main" id="{7FD83CE6-0AC3-98AF-0745-33F1A8BF3C16}"/>
              </a:ext>
            </a:extLst>
          </p:cNvPr>
          <p:cNvSpPr/>
          <p:nvPr/>
        </p:nvSpPr>
        <p:spPr>
          <a:xfrm>
            <a:off x="6123480" y="5364824"/>
            <a:ext cx="4437840" cy="1396817"/>
          </a:xfrm>
          <a:prstGeom prst="roundRect">
            <a:avLst>
              <a:gd name="adj" fmla="val 0"/>
            </a:avLst>
          </a:prstGeom>
          <a:noFill/>
          <a:ln w="571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49" name="TextBox 61">
            <a:extLst>
              <a:ext uri="{FF2B5EF4-FFF2-40B4-BE49-F238E27FC236}">
                <a16:creationId xmlns:a16="http://schemas.microsoft.com/office/drawing/2014/main" id="{B1EDF5B2-7C84-E04E-4061-627505F3E210}"/>
              </a:ext>
            </a:extLst>
          </p:cNvPr>
          <p:cNvSpPr txBox="1"/>
          <p:nvPr/>
        </p:nvSpPr>
        <p:spPr>
          <a:xfrm>
            <a:off x="6282146" y="5849294"/>
            <a:ext cx="4120507" cy="1077218"/>
          </a:xfrm>
          <a:prstGeom prst="rect">
            <a:avLst/>
          </a:prstGeom>
          <a:noFill/>
        </p:spPr>
        <p:txBody>
          <a:bodyPr wrap="square" numCol="2" spc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srgbClr val="2A5E8F"/>
                </a:solidFill>
                <a:latin typeface="Franklin Gothic Medium Cond" panose="020B0606030402020204" pitchFamily="34" charset="0"/>
              </a:rPr>
              <a:t>MS Copilot Studio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srgbClr val="2A5E8F"/>
                </a:solidFill>
                <a:latin typeface="Franklin Gothic Medium Cond" panose="020B0606030402020204" pitchFamily="34" charset="0"/>
              </a:rPr>
              <a:t>Claude Code &amp; MCP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TW" sz="1600" err="1">
                <a:solidFill>
                  <a:srgbClr val="2A5E8F"/>
                </a:solidFill>
                <a:latin typeface="Franklin Gothic Medium Cond" panose="020B0606030402020204" pitchFamily="34" charset="0"/>
              </a:rPr>
              <a:t>Nemo</a:t>
            </a:r>
            <a:r>
              <a:rPr lang="en-US" altLang="zh-TW" sz="1600" err="1">
                <a:solidFill>
                  <a:srgbClr val="2A5E8F"/>
                </a:solidFill>
                <a:latin typeface="Franklin Gothic Medium Cond" panose="020B0606030402020204" pitchFamily="34" charset="0"/>
                <a:ea typeface="新細明體" panose="02020500000000000000" pitchFamily="18" charset="-120"/>
              </a:rPr>
              <a:t>Claw</a:t>
            </a:r>
            <a:endParaRPr lang="en-US" altLang="zh-TW" sz="1600">
              <a:solidFill>
                <a:srgbClr val="2A5E8F"/>
              </a:solidFill>
              <a:latin typeface="Franklin Gothic Medium Cond" panose="020B0606030402020204" pitchFamily="34" charset="0"/>
              <a:ea typeface="新細明體" panose="02020500000000000000" pitchFamily="18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2A5E8F"/>
              </a:solidFill>
              <a:latin typeface="Franklin Gothic Medium Cond" panose="020B0606030402020204" pitchFamily="34" charset="0"/>
              <a:ea typeface="新細明體" panose="02020500000000000000" pitchFamily="18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2A5E8F"/>
                </a:solidFill>
                <a:latin typeface="Franklin Gothic Medium Cond" panose="020B0606030402020204" pitchFamily="34" charset="0"/>
              </a:rPr>
              <a:t>OpenAI/Anthropic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TW" sz="1600" err="1">
                <a:solidFill>
                  <a:srgbClr val="2A5E8F"/>
                </a:solidFill>
                <a:latin typeface="Franklin Gothic Medium Cond" panose="020B0606030402020204" pitchFamily="34" charset="0"/>
                <a:ea typeface="新細明體" panose="02020500000000000000" pitchFamily="18" charset="-120"/>
              </a:rPr>
              <a:t>Doubao</a:t>
            </a:r>
            <a:endParaRPr lang="en-US" altLang="zh-TW" sz="1600">
              <a:solidFill>
                <a:srgbClr val="2A5E8F"/>
              </a:solidFill>
              <a:latin typeface="Franklin Gothic Medium Cond" panose="020B060603040202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4159" name="直線接點 4158">
            <a:extLst>
              <a:ext uri="{FF2B5EF4-FFF2-40B4-BE49-F238E27FC236}">
                <a16:creationId xmlns:a16="http://schemas.microsoft.com/office/drawing/2014/main" id="{02F0F259-5D1F-7BF6-996D-F723EBE6B77B}"/>
              </a:ext>
            </a:extLst>
          </p:cNvPr>
          <p:cNvCxnSpPr>
            <a:cxnSpLocks/>
          </p:cNvCxnSpPr>
          <p:nvPr/>
        </p:nvCxnSpPr>
        <p:spPr>
          <a:xfrm>
            <a:off x="94896" y="771759"/>
            <a:ext cx="11982085" cy="0"/>
          </a:xfrm>
          <a:prstGeom prst="line">
            <a:avLst/>
          </a:prstGeom>
          <a:noFill/>
          <a:ln w="57150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sp>
        <p:nvSpPr>
          <p:cNvPr id="4160" name="TextBox 101">
            <a:extLst>
              <a:ext uri="{FF2B5EF4-FFF2-40B4-BE49-F238E27FC236}">
                <a16:creationId xmlns:a16="http://schemas.microsoft.com/office/drawing/2014/main" id="{00367761-10ED-8308-CC08-0B44CD097D76}"/>
              </a:ext>
            </a:extLst>
          </p:cNvPr>
          <p:cNvSpPr txBox="1"/>
          <p:nvPr/>
        </p:nvSpPr>
        <p:spPr>
          <a:xfrm>
            <a:off x="1049528" y="4377277"/>
            <a:ext cx="2755946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500">
                <a:solidFill>
                  <a:srgbClr val="163C61"/>
                </a:solidFill>
                <a:latin typeface="Franklin Gothic Medium Cond" panose="020B0606030402020204" pitchFamily="34" charset="0"/>
              </a:rPr>
              <a:t>•  PIS · Product Information System</a:t>
            </a:r>
          </a:p>
        </p:txBody>
      </p:sp>
      <p:sp>
        <p:nvSpPr>
          <p:cNvPr id="4161" name="TextBox 102">
            <a:extLst>
              <a:ext uri="{FF2B5EF4-FFF2-40B4-BE49-F238E27FC236}">
                <a16:creationId xmlns:a16="http://schemas.microsoft.com/office/drawing/2014/main" id="{B2485060-89AF-203A-84A2-366F8BED5830}"/>
              </a:ext>
            </a:extLst>
          </p:cNvPr>
          <p:cNvSpPr txBox="1"/>
          <p:nvPr/>
        </p:nvSpPr>
        <p:spPr>
          <a:xfrm>
            <a:off x="1040286" y="4709317"/>
            <a:ext cx="2755946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500">
                <a:solidFill>
                  <a:srgbClr val="163C61"/>
                </a:solidFill>
                <a:latin typeface="Franklin Gothic Medium Cond" panose="020B0606030402020204" pitchFamily="34" charset="0"/>
              </a:rPr>
              <a:t>•  CTOS · Customer / Order data</a:t>
            </a:r>
          </a:p>
        </p:txBody>
      </p:sp>
      <p:sp>
        <p:nvSpPr>
          <p:cNvPr id="4162" name="TextBox 89">
            <a:extLst>
              <a:ext uri="{FF2B5EF4-FFF2-40B4-BE49-F238E27FC236}">
                <a16:creationId xmlns:a16="http://schemas.microsoft.com/office/drawing/2014/main" id="{982479D3-5711-CCF7-D304-F60E7E87EBC8}"/>
              </a:ext>
            </a:extLst>
          </p:cNvPr>
          <p:cNvSpPr txBox="1"/>
          <p:nvPr/>
        </p:nvSpPr>
        <p:spPr>
          <a:xfrm>
            <a:off x="1018701" y="1792100"/>
            <a:ext cx="2976977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altLang="zh-TW" sz="1500">
                <a:solidFill>
                  <a:srgbClr val="163C61"/>
                </a:solidFill>
                <a:latin typeface="Franklin Gothic Medium Cond" panose="020B0606030402020204" pitchFamily="34" charset="0"/>
                <a:ea typeface="新細明體" panose="02020500000000000000" pitchFamily="18" charset="-120"/>
              </a:rPr>
              <a:t>•</a:t>
            </a:r>
            <a:r>
              <a:rPr lang="zh-TW" altLang="en-US" sz="1500">
                <a:solidFill>
                  <a:srgbClr val="163C61"/>
                </a:solidFill>
                <a:latin typeface="Franklin Gothic Medium Cond" panose="020B0606030402020204" pitchFamily="34" charset="0"/>
                <a:ea typeface="新細明體" panose="02020500000000000000" pitchFamily="18" charset="-120"/>
              </a:rPr>
              <a:t> </a:t>
            </a:r>
            <a:r>
              <a:rPr sz="1500">
                <a:solidFill>
                  <a:srgbClr val="163C61"/>
                </a:solidFill>
                <a:latin typeface="Franklin Gothic Medium Cond" panose="020B0606030402020204" pitchFamily="34" charset="0"/>
              </a:rPr>
              <a:t> Smart Grid · Substation (IEC 61850)</a:t>
            </a:r>
          </a:p>
        </p:txBody>
      </p:sp>
      <p:sp>
        <p:nvSpPr>
          <p:cNvPr id="4163" name="TextBox 90">
            <a:extLst>
              <a:ext uri="{FF2B5EF4-FFF2-40B4-BE49-F238E27FC236}">
                <a16:creationId xmlns:a16="http://schemas.microsoft.com/office/drawing/2014/main" id="{22DC6BCD-BBF5-5EDF-A960-1BCC6BDDEB18}"/>
              </a:ext>
            </a:extLst>
          </p:cNvPr>
          <p:cNvSpPr txBox="1"/>
          <p:nvPr/>
        </p:nvSpPr>
        <p:spPr>
          <a:xfrm>
            <a:off x="1014815" y="2086252"/>
            <a:ext cx="2916073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500">
                <a:solidFill>
                  <a:srgbClr val="163C61"/>
                </a:solidFill>
                <a:latin typeface="Franklin Gothic Medium Cond" panose="020B0606030402020204" pitchFamily="34" charset="0"/>
              </a:rPr>
              <a:t>•  Power Generation · Distribution</a:t>
            </a:r>
          </a:p>
        </p:txBody>
      </p:sp>
      <p:sp>
        <p:nvSpPr>
          <p:cNvPr id="4164" name="TextBox 91">
            <a:extLst>
              <a:ext uri="{FF2B5EF4-FFF2-40B4-BE49-F238E27FC236}">
                <a16:creationId xmlns:a16="http://schemas.microsoft.com/office/drawing/2014/main" id="{38074F89-11E8-FA49-CF77-18E81E34A772}"/>
              </a:ext>
            </a:extLst>
          </p:cNvPr>
          <p:cNvSpPr txBox="1"/>
          <p:nvPr/>
        </p:nvSpPr>
        <p:spPr>
          <a:xfrm>
            <a:off x="1008676" y="2363692"/>
            <a:ext cx="2757938" cy="2945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500">
                <a:solidFill>
                  <a:srgbClr val="163C61"/>
                </a:solidFill>
                <a:latin typeface="Franklin Gothic Medium Cond" panose="020B0606030402020204" pitchFamily="34" charset="0"/>
              </a:rPr>
              <a:t>•  Battery Energy Storage (BESS)</a:t>
            </a:r>
          </a:p>
        </p:txBody>
      </p:sp>
      <p:sp>
        <p:nvSpPr>
          <p:cNvPr id="4165" name="TextBox 92">
            <a:extLst>
              <a:ext uri="{FF2B5EF4-FFF2-40B4-BE49-F238E27FC236}">
                <a16:creationId xmlns:a16="http://schemas.microsoft.com/office/drawing/2014/main" id="{1AEA6819-F1D0-0273-C099-1F7A20342D87}"/>
              </a:ext>
            </a:extLst>
          </p:cNvPr>
          <p:cNvSpPr txBox="1"/>
          <p:nvPr/>
        </p:nvSpPr>
        <p:spPr>
          <a:xfrm>
            <a:off x="1017554" y="2681308"/>
            <a:ext cx="2821778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500">
                <a:solidFill>
                  <a:srgbClr val="163C61"/>
                </a:solidFill>
                <a:latin typeface="Franklin Gothic Medium Cond" panose="020B0606030402020204" pitchFamily="34" charset="0"/>
              </a:rPr>
              <a:t>•  EV Charging (EVSE / SECC)</a:t>
            </a:r>
          </a:p>
        </p:txBody>
      </p:sp>
      <p:sp>
        <p:nvSpPr>
          <p:cNvPr id="4166" name="TextBox 93">
            <a:extLst>
              <a:ext uri="{FF2B5EF4-FFF2-40B4-BE49-F238E27FC236}">
                <a16:creationId xmlns:a16="http://schemas.microsoft.com/office/drawing/2014/main" id="{ED199449-B7D9-BA14-486B-97C6F3B46F7B}"/>
              </a:ext>
            </a:extLst>
          </p:cNvPr>
          <p:cNvSpPr txBox="1"/>
          <p:nvPr/>
        </p:nvSpPr>
        <p:spPr>
          <a:xfrm>
            <a:off x="1019714" y="3281597"/>
            <a:ext cx="2719370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500">
                <a:solidFill>
                  <a:srgbClr val="163C61"/>
                </a:solidFill>
                <a:latin typeface="Franklin Gothic Medium Cond" panose="020B0606030402020204" pitchFamily="34" charset="0"/>
              </a:rPr>
              <a:t>•  Solar Power Management (SPMS)</a:t>
            </a:r>
          </a:p>
        </p:txBody>
      </p:sp>
      <p:sp>
        <p:nvSpPr>
          <p:cNvPr id="4167" name="TextBox 94">
            <a:extLst>
              <a:ext uri="{FF2B5EF4-FFF2-40B4-BE49-F238E27FC236}">
                <a16:creationId xmlns:a16="http://schemas.microsoft.com/office/drawing/2014/main" id="{76932F26-C646-FB37-C5E2-8947E69BB562}"/>
              </a:ext>
            </a:extLst>
          </p:cNvPr>
          <p:cNvSpPr txBox="1"/>
          <p:nvPr/>
        </p:nvSpPr>
        <p:spPr>
          <a:xfrm>
            <a:off x="1017756" y="2981063"/>
            <a:ext cx="2853788" cy="26716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500">
                <a:solidFill>
                  <a:srgbClr val="163C61"/>
                </a:solidFill>
                <a:latin typeface="Franklin Gothic Medium Cond" panose="020B0606030402020204" pitchFamily="34" charset="0"/>
              </a:rPr>
              <a:t>•  DERM · Water &amp; Wastewater</a:t>
            </a:r>
          </a:p>
        </p:txBody>
      </p:sp>
      <p:sp>
        <p:nvSpPr>
          <p:cNvPr id="4168" name="TextBox 95">
            <a:extLst>
              <a:ext uri="{FF2B5EF4-FFF2-40B4-BE49-F238E27FC236}">
                <a16:creationId xmlns:a16="http://schemas.microsoft.com/office/drawing/2014/main" id="{9BFD526A-EE31-5783-7F4F-782BDD8D0A6A}"/>
              </a:ext>
            </a:extLst>
          </p:cNvPr>
          <p:cNvSpPr txBox="1"/>
          <p:nvPr/>
        </p:nvSpPr>
        <p:spPr>
          <a:xfrm>
            <a:off x="1019714" y="3605926"/>
            <a:ext cx="3156988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500">
                <a:solidFill>
                  <a:srgbClr val="163C61"/>
                </a:solidFill>
                <a:latin typeface="Franklin Gothic Medium Cond" panose="020B0606030402020204" pitchFamily="34" charset="0"/>
              </a:rPr>
              <a:t>•  Energy Computers · Controllers · DAQ</a:t>
            </a:r>
          </a:p>
        </p:txBody>
      </p:sp>
      <p:sp>
        <p:nvSpPr>
          <p:cNvPr id="4170" name="TextBox 35">
            <a:extLst>
              <a:ext uri="{FF2B5EF4-FFF2-40B4-BE49-F238E27FC236}">
                <a16:creationId xmlns:a16="http://schemas.microsoft.com/office/drawing/2014/main" id="{C736377E-C360-8057-7FD8-18238565F7DD}"/>
              </a:ext>
            </a:extLst>
          </p:cNvPr>
          <p:cNvSpPr txBox="1"/>
          <p:nvPr/>
        </p:nvSpPr>
        <p:spPr>
          <a:xfrm>
            <a:off x="989262" y="1310303"/>
            <a:ext cx="27965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163C61"/>
                </a:solidFill>
                <a:latin typeface="Franklin Gothic Demi Cond" panose="020B0603020102020204" pitchFamily="34" charset="0"/>
              </a:rPr>
              <a:t>Smart Energy Data</a:t>
            </a:r>
            <a:endParaRPr lang="en-TW" sz="2000">
              <a:solidFill>
                <a:srgbClr val="163C61"/>
              </a:solidFill>
              <a:latin typeface="Franklin Gothic Demi Cond" panose="020B0603020102020204" pitchFamily="34" charset="0"/>
            </a:endParaRPr>
          </a:p>
        </p:txBody>
      </p:sp>
      <p:sp>
        <p:nvSpPr>
          <p:cNvPr id="4172" name="TextBox 35">
            <a:extLst>
              <a:ext uri="{FF2B5EF4-FFF2-40B4-BE49-F238E27FC236}">
                <a16:creationId xmlns:a16="http://schemas.microsoft.com/office/drawing/2014/main" id="{6FB6D8DC-C8CE-68C5-A117-CAA5C59A59F1}"/>
              </a:ext>
            </a:extLst>
          </p:cNvPr>
          <p:cNvSpPr txBox="1"/>
          <p:nvPr/>
        </p:nvSpPr>
        <p:spPr>
          <a:xfrm>
            <a:off x="989262" y="3946667"/>
            <a:ext cx="27965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163C61"/>
                </a:solidFill>
                <a:latin typeface="Franklin Gothic Demi Cond" panose="020B0603020102020204" pitchFamily="34" charset="0"/>
              </a:rPr>
              <a:t>Enterprise System Data</a:t>
            </a:r>
            <a:endParaRPr lang="en-TW" sz="2000">
              <a:solidFill>
                <a:srgbClr val="163C61"/>
              </a:solidFill>
              <a:latin typeface="Franklin Gothic Demi Cond" panose="020B0603020102020204" pitchFamily="34" charset="0"/>
            </a:endParaRPr>
          </a:p>
        </p:txBody>
      </p:sp>
      <p:sp>
        <p:nvSpPr>
          <p:cNvPr id="4173" name="TextBox 112">
            <a:extLst>
              <a:ext uri="{FF2B5EF4-FFF2-40B4-BE49-F238E27FC236}">
                <a16:creationId xmlns:a16="http://schemas.microsoft.com/office/drawing/2014/main" id="{8FFB69A2-5566-6BF6-CEA0-5B3A6594EEC1}"/>
              </a:ext>
            </a:extLst>
          </p:cNvPr>
          <p:cNvSpPr txBox="1"/>
          <p:nvPr/>
        </p:nvSpPr>
        <p:spPr>
          <a:xfrm>
            <a:off x="9851119" y="1225620"/>
            <a:ext cx="1820422" cy="88413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63C61"/>
                </a:solidFill>
                <a:effectLst/>
                <a:uLnTx/>
                <a:uFillTx/>
                <a:latin typeface="Franklin Gothic Medium Cond" panose="020B0606030402020204" pitchFamily="34" charset="0"/>
              </a:rPr>
              <a:t>Reduced from 1 week to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163C61"/>
              </a:solidFill>
              <a:effectLst/>
              <a:uLnTx/>
              <a:uFillTx/>
              <a:latin typeface="Franklin Gothic Medium Cond" panose="020B06060304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63C61"/>
                </a:solidFill>
                <a:effectLst/>
                <a:uLnTx/>
                <a:uFillTx/>
                <a:latin typeface="Franklin Gothic Medium Cond" panose="020B0606030402020204" pitchFamily="34" charset="0"/>
              </a:rPr>
              <a:t>only a few hours —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163C61"/>
              </a:solidFill>
              <a:effectLst/>
              <a:uLnTx/>
              <a:uFillTx/>
              <a:latin typeface="Franklin Gothic Medium Cond" panose="020B06060304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63C61"/>
                </a:solidFill>
                <a:effectLst/>
                <a:uLnTx/>
                <a:uFillTx/>
                <a:latin typeface="Franklin Gothic Medium Cond" panose="020B0606030402020204" pitchFamily="34" charset="0"/>
              </a:rPr>
              <a:t>high-quality proposals</a:t>
            </a:r>
          </a:p>
        </p:txBody>
      </p:sp>
      <p:sp>
        <p:nvSpPr>
          <p:cNvPr id="4174" name="TextBox 114">
            <a:extLst>
              <a:ext uri="{FF2B5EF4-FFF2-40B4-BE49-F238E27FC236}">
                <a16:creationId xmlns:a16="http://schemas.microsoft.com/office/drawing/2014/main" id="{CC82DEB6-9DA0-F347-FEB5-AD205FEDC09D}"/>
              </a:ext>
            </a:extLst>
          </p:cNvPr>
          <p:cNvSpPr txBox="1"/>
          <p:nvPr/>
        </p:nvSpPr>
        <p:spPr>
          <a:xfrm>
            <a:off x="9871684" y="2226147"/>
            <a:ext cx="1799857" cy="88413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r>
              <a:rPr lang="en-US" sz="1400">
                <a:solidFill>
                  <a:srgbClr val="163C61"/>
                </a:solidFill>
                <a:latin typeface="Franklin Gothic Medium Cond" panose="020B0606030402020204" pitchFamily="34" charset="0"/>
              </a:rPr>
              <a:t>Partners can sell</a:t>
            </a:r>
          </a:p>
          <a:p>
            <a:r>
              <a:rPr lang="en-US" sz="1400">
                <a:solidFill>
                  <a:srgbClr val="163C61"/>
                </a:solidFill>
                <a:latin typeface="Franklin Gothic Medium Cond" panose="020B0606030402020204" pitchFamily="34" charset="0"/>
              </a:rPr>
              <a:t>more types of solutions</a:t>
            </a:r>
          </a:p>
        </p:txBody>
      </p:sp>
      <p:sp>
        <p:nvSpPr>
          <p:cNvPr id="4175" name="TextBox 116">
            <a:extLst>
              <a:ext uri="{FF2B5EF4-FFF2-40B4-BE49-F238E27FC236}">
                <a16:creationId xmlns:a16="http://schemas.microsoft.com/office/drawing/2014/main" id="{79659CEB-E760-4DC7-D81E-7CD84BA3E991}"/>
              </a:ext>
            </a:extLst>
          </p:cNvPr>
          <p:cNvSpPr txBox="1"/>
          <p:nvPr/>
        </p:nvSpPr>
        <p:spPr>
          <a:xfrm>
            <a:off x="9893520" y="2986150"/>
            <a:ext cx="1778021" cy="88413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 fontScale="97500"/>
          </a:bodyPr>
          <a:lstStyle/>
          <a:p>
            <a:r>
              <a:rPr lang="en-US" sz="1400" err="1">
                <a:solidFill>
                  <a:srgbClr val="163C61"/>
                </a:solidFill>
                <a:latin typeface="Franklin Gothic Medium Cond" panose="020B0606030402020204" pitchFamily="34" charset="0"/>
              </a:rPr>
              <a:t>IoTMart</a:t>
            </a:r>
            <a:r>
              <a:rPr lang="en-US" sz="1400">
                <a:solidFill>
                  <a:srgbClr val="163C61"/>
                </a:solidFill>
                <a:latin typeface="Franklin Gothic Medium Cond" panose="020B0606030402020204" pitchFamily="34" charset="0"/>
              </a:rPr>
              <a:t> enables</a:t>
            </a:r>
          </a:p>
          <a:p>
            <a:r>
              <a:rPr lang="en-US" sz="1400">
                <a:solidFill>
                  <a:srgbClr val="163C61"/>
                </a:solidFill>
                <a:latin typeface="Franklin Gothic Medium Cond" panose="020B0606030402020204" pitchFamily="34" charset="0"/>
              </a:rPr>
              <a:t>real-time smart selection</a:t>
            </a:r>
          </a:p>
        </p:txBody>
      </p:sp>
      <p:sp>
        <p:nvSpPr>
          <p:cNvPr id="4176" name="TextBox 118">
            <a:extLst>
              <a:ext uri="{FF2B5EF4-FFF2-40B4-BE49-F238E27FC236}">
                <a16:creationId xmlns:a16="http://schemas.microsoft.com/office/drawing/2014/main" id="{0A893C97-C1D2-E692-93FD-87706EDFFF5F}"/>
              </a:ext>
            </a:extLst>
          </p:cNvPr>
          <p:cNvSpPr txBox="1"/>
          <p:nvPr/>
        </p:nvSpPr>
        <p:spPr>
          <a:xfrm>
            <a:off x="9911505" y="3881794"/>
            <a:ext cx="1760036" cy="88413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>
              <a:defRPr/>
            </a:pPr>
            <a:r>
              <a:rPr lang="en-US" sz="1400">
                <a:solidFill>
                  <a:srgbClr val="163C61"/>
                </a:solidFill>
                <a:latin typeface="Franklin Gothic Medium Cond" panose="020B0606030402020204" pitchFamily="34" charset="0"/>
              </a:rPr>
              <a:t>Targeted eMail / trade shows</a:t>
            </a:r>
          </a:p>
        </p:txBody>
      </p:sp>
      <p:sp>
        <p:nvSpPr>
          <p:cNvPr id="4177" name="TextBox 4166">
            <a:extLst>
              <a:ext uri="{FF2B5EF4-FFF2-40B4-BE49-F238E27FC236}">
                <a16:creationId xmlns:a16="http://schemas.microsoft.com/office/drawing/2014/main" id="{9FEC7E69-2465-8C95-EC72-1B568BD16590}"/>
              </a:ext>
            </a:extLst>
          </p:cNvPr>
          <p:cNvSpPr txBox="1"/>
          <p:nvPr/>
        </p:nvSpPr>
        <p:spPr>
          <a:xfrm>
            <a:off x="8448115" y="1192233"/>
            <a:ext cx="23568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>
                <a:solidFill>
                  <a:srgbClr val="163C61"/>
                </a:solidFill>
                <a:latin typeface="Franklin Gothic Demi Cond" panose="020B0603020102020204" pitchFamily="34" charset="0"/>
              </a:rPr>
              <a:t>High Quality Proposal</a:t>
            </a:r>
            <a:endParaRPr lang="en-TW" sz="1600">
              <a:solidFill>
                <a:srgbClr val="163C61"/>
              </a:solidFill>
              <a:latin typeface="Franklin Gothic Demi Cond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841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E056569-19D5-1984-7608-AF29EC42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6888"/>
            <a:ext cx="10972800" cy="5522976"/>
          </a:xfrm>
        </p:spPr>
        <p:txBody>
          <a:bodyPr/>
          <a:lstStyle/>
          <a:p>
            <a:r>
              <a:rPr lang="zh-TW" altLang="en-US"/>
              <a:t>以下作為引導各組</a:t>
            </a:r>
            <a:br>
              <a:rPr lang="en-US" altLang="zh-TW"/>
            </a:br>
            <a:r>
              <a:rPr lang="zh-TW" altLang="en-US"/>
              <a:t>製作投影片的方向</a:t>
            </a:r>
            <a:br>
              <a:rPr lang="en-US" altLang="zh-TW"/>
            </a:br>
            <a:r>
              <a:rPr lang="zh-TW" altLang="en-US"/>
              <a:t> </a:t>
            </a:r>
            <a:br>
              <a:rPr lang="en-US" altLang="zh-TW"/>
            </a:br>
            <a:r>
              <a:rPr lang="zh-TW" altLang="en-US"/>
              <a:t> </a:t>
            </a:r>
            <a:r>
              <a:rPr lang="en-US" altLang="zh-TW">
                <a:solidFill>
                  <a:schemeClr val="accent6">
                    <a:lumMod val="50000"/>
                  </a:schemeClr>
                </a:solidFill>
              </a:rPr>
              <a:t>“</a:t>
            </a:r>
            <a:r>
              <a:rPr lang="zh-TW" altLang="en-US">
                <a:solidFill>
                  <a:schemeClr val="accent6">
                    <a:lumMod val="50000"/>
                  </a:schemeClr>
                </a:solidFill>
              </a:rPr>
              <a:t>僅供參考</a:t>
            </a:r>
            <a:r>
              <a:rPr lang="en-US" altLang="zh-TW">
                <a:solidFill>
                  <a:schemeClr val="accent6">
                    <a:lumMod val="50000"/>
                  </a:schemeClr>
                </a:solidFill>
              </a:rPr>
              <a:t>”</a:t>
            </a:r>
            <a:br>
              <a:rPr lang="en-US" altLang="zh-TW">
                <a:solidFill>
                  <a:schemeClr val="accent6">
                    <a:lumMod val="50000"/>
                  </a:schemeClr>
                </a:solidFill>
              </a:rPr>
            </a:br>
            <a:br>
              <a:rPr lang="en-US" altLang="zh-TW" sz="32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altLang="zh-TW" sz="3200"/>
              <a:t>The following slide examples are </a:t>
            </a:r>
            <a:r>
              <a:rPr lang="en-US" altLang="zh-TW" sz="3200" b="1"/>
              <a:t>for reference only</a:t>
            </a:r>
            <a:r>
              <a:rPr lang="en-US" altLang="zh-TW" sz="3200"/>
              <a:t>.</a:t>
            </a:r>
            <a:endParaRPr lang="zh-TW" altLang="en-US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83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8A4BCB8-CD40-E3CB-C0B5-B890BD42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Business Scenario &amp; Pain Point / </a:t>
            </a:r>
            <a:r>
              <a:rPr lang="zh-TW" altLang="zh-TW" sz="4000"/>
              <a:t>業務情境與痛點</a:t>
            </a:r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7692C35-55DF-D669-D9A8-BBE4E5D0E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491050"/>
              </p:ext>
            </p:extLst>
          </p:nvPr>
        </p:nvGraphicFramePr>
        <p:xfrm>
          <a:off x="609600" y="1443831"/>
          <a:ext cx="10972800" cy="4572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3251741864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15203738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2400" b="1" kern="120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2400" b="1" kern="120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建議填寫內容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160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Business 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應用場景說明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259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 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使用者角色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27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Current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現行作業流程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311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Pain Point 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主要痛點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29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Pain Point #2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次要痛點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978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Business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對業務造成的影響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203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Current KPI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KPI </a:t>
                      </a:r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落差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0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Frequency /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發生頻率與影響範圍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59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Why Existing Solution Fails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為何現有方式不足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92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113EF2C-0E14-0959-6C94-E5C17F4E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DEMO</a:t>
            </a:r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D4866F-84AE-E862-FBFA-D64734E79914}"/>
              </a:ext>
            </a:extLst>
          </p:cNvPr>
          <p:cNvSpPr/>
          <p:nvPr/>
        </p:nvSpPr>
        <p:spPr>
          <a:xfrm>
            <a:off x="609600" y="1005840"/>
            <a:ext cx="11131296" cy="535838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E490897-4BCC-5317-2292-9E34279624E9}"/>
              </a:ext>
            </a:extLst>
          </p:cNvPr>
          <p:cNvSpPr txBox="1"/>
          <p:nvPr/>
        </p:nvSpPr>
        <p:spPr>
          <a:xfrm>
            <a:off x="678942" y="5716947"/>
            <a:ext cx="844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>
                <a:solidFill>
                  <a:srgbClr val="0070C0"/>
                </a:solidFill>
              </a:rPr>
              <a:t>如仍在提案階段，可用使用者情境表達完成後的景象</a:t>
            </a:r>
          </a:p>
        </p:txBody>
      </p:sp>
    </p:spTree>
    <p:extLst>
      <p:ext uri="{BB962C8B-B14F-4D97-AF65-F5344CB8AC3E}">
        <p14:creationId xmlns:p14="http://schemas.microsoft.com/office/powerpoint/2010/main" val="157764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841DC34-0DE0-E8A6-2F8F-178FE178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Feasibility &amp; Scaling Plan</a:t>
            </a:r>
            <a:br>
              <a:rPr lang="en-US" altLang="zh-TW" b="1"/>
            </a:br>
            <a:r>
              <a:rPr lang="zh-TW" altLang="en-US" sz="2800" b="1"/>
              <a:t>落地可行性與後續推廣規劃</a:t>
            </a:r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970136C-3A8E-EE05-2AB2-A319BD75E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855647"/>
              </p:ext>
            </p:extLst>
          </p:nvPr>
        </p:nvGraphicFramePr>
        <p:xfrm>
          <a:off x="609600" y="1352391"/>
          <a:ext cx="11378184" cy="488025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42560">
                  <a:extLst>
                    <a:ext uri="{9D8B030D-6E8A-4147-A177-3AD203B41FA5}">
                      <a16:colId xmlns:a16="http://schemas.microsoft.com/office/drawing/2014/main" val="2640094468"/>
                    </a:ext>
                  </a:extLst>
                </a:gridCol>
                <a:gridCol w="6135624">
                  <a:extLst>
                    <a:ext uri="{9D8B030D-6E8A-4147-A177-3AD203B41FA5}">
                      <a16:colId xmlns:a16="http://schemas.microsoft.com/office/drawing/2014/main" val="1930828610"/>
                    </a:ext>
                  </a:extLst>
                </a:gridCol>
              </a:tblGrid>
              <a:tr h="390208"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2400" b="1" kern="120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2400" b="1" kern="120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建議填寫內容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459338"/>
                  </a:ext>
                </a:extLst>
              </a:tr>
              <a:tr h="390208">
                <a:tc>
                  <a:txBody>
                    <a:bodyPr/>
                    <a:lstStyle/>
                    <a:p>
                      <a:r>
                        <a:rPr lang="en-US"/>
                        <a:t>Deployment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80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落地方式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2217861"/>
                  </a:ext>
                </a:extLst>
              </a:tr>
              <a:tr h="390208">
                <a:tc>
                  <a:txBody>
                    <a:bodyPr/>
                    <a:lstStyle/>
                    <a:p>
                      <a:r>
                        <a:rPr lang="en-US"/>
                        <a:t>Required Resources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80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所需資源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977945"/>
                  </a:ext>
                </a:extLst>
              </a:tr>
              <a:tr h="390208">
                <a:tc>
                  <a:txBody>
                    <a:bodyPr/>
                    <a:lstStyle/>
                    <a:p>
                      <a:r>
                        <a:rPr lang="en-US"/>
                        <a:t>Risk &amp; Mitigation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80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風險與對策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779333"/>
                  </a:ext>
                </a:extLst>
              </a:tr>
              <a:tr h="390208">
                <a:tc>
                  <a:txBody>
                    <a:bodyPr/>
                    <a:lstStyle/>
                    <a:p>
                      <a:r>
                        <a:rPr lang="en-US"/>
                        <a:t>Security / 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80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資安與法規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139668"/>
                  </a:ext>
                </a:extLst>
              </a:tr>
              <a:tr h="390208">
                <a:tc>
                  <a:txBody>
                    <a:bodyPr/>
                    <a:lstStyle/>
                    <a:p>
                      <a:r>
                        <a:rPr lang="en-US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80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擴展能力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732682"/>
                  </a:ext>
                </a:extLst>
              </a:tr>
              <a:tr h="390208">
                <a:tc>
                  <a:txBody>
                    <a:bodyPr/>
                    <a:lstStyle/>
                    <a:p>
                      <a:r>
                        <a:rPr lang="en-US"/>
                        <a:t>Target BU / 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80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可推廣 </a:t>
                      </a:r>
                      <a:r>
                        <a:rPr lang="en-US" sz="180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BU / </a:t>
                      </a:r>
                      <a:r>
                        <a:rPr lang="zh-TW" altLang="en-US" sz="180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區域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063989"/>
                  </a:ext>
                </a:extLst>
              </a:tr>
              <a:tr h="390208">
                <a:tc>
                  <a:txBody>
                    <a:bodyPr/>
                    <a:lstStyle/>
                    <a:p>
                      <a:r>
                        <a:rPr lang="en-US"/>
                        <a:t>Commercial Potential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80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商業化可能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66905"/>
                  </a:ext>
                </a:extLst>
              </a:tr>
              <a:tr h="1222653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6-12 </a:t>
                      </a:r>
                      <a:br>
                        <a:rPr lang="en-US" sz="24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Month Roadmap</a:t>
                      </a:r>
                    </a:p>
                  </a:txBody>
                  <a:tcPr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2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未來 </a:t>
                      </a:r>
                      <a:r>
                        <a:rPr lang="en-US" sz="2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Roadmap</a:t>
                      </a:r>
                    </a:p>
                  </a:txBody>
                  <a:tcPr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269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15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D49FB82-7866-DEC5-6A18-633738AB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Executives Summary </a:t>
            </a:r>
            <a:r>
              <a:rPr lang="en-US" altLang="zh-TW" sz="3200">
                <a:solidFill>
                  <a:srgbClr val="FF6600"/>
                </a:solidFill>
              </a:rPr>
              <a:t>“</a:t>
            </a:r>
            <a:r>
              <a:rPr lang="zh-TW" altLang="en-US" sz="2800">
                <a:solidFill>
                  <a:srgbClr val="FF6600"/>
                </a:solidFill>
              </a:rPr>
              <a:t>補充說明</a:t>
            </a:r>
            <a:r>
              <a:rPr lang="en-US" altLang="zh-TW" sz="2800">
                <a:solidFill>
                  <a:srgbClr val="FF6600"/>
                </a:solidFill>
              </a:rPr>
              <a:t>”</a:t>
            </a:r>
            <a:r>
              <a:rPr lang="zh-TW" altLang="en-US" sz="2800">
                <a:solidFill>
                  <a:srgbClr val="FF6600"/>
                </a:solidFill>
              </a:rPr>
              <a:t>頁面</a:t>
            </a:r>
            <a:endParaRPr lang="zh-TW" altLang="en-US">
              <a:solidFill>
                <a:srgbClr val="FF6600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BAE0C85-8D2E-EA3D-6334-BC581232D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736910"/>
              </p:ext>
            </p:extLst>
          </p:nvPr>
        </p:nvGraphicFramePr>
        <p:xfrm>
          <a:off x="609600" y="1300164"/>
          <a:ext cx="10972800" cy="45510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02280">
                  <a:extLst>
                    <a:ext uri="{9D8B030D-6E8A-4147-A177-3AD203B41FA5}">
                      <a16:colId xmlns:a16="http://schemas.microsoft.com/office/drawing/2014/main" val="2183029624"/>
                    </a:ext>
                  </a:extLst>
                </a:gridCol>
                <a:gridCol w="7970520">
                  <a:extLst>
                    <a:ext uri="{9D8B030D-6E8A-4147-A177-3AD203B41FA5}">
                      <a16:colId xmlns:a16="http://schemas.microsoft.com/office/drawing/2014/main" val="912666062"/>
                    </a:ext>
                  </a:extLst>
                </a:gridCol>
              </a:tblGrid>
              <a:tr h="400816"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2400" b="1" kern="120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項目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2400" b="1" kern="120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建議填寫內容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3501341809"/>
                  </a:ext>
                </a:extLst>
              </a:tr>
              <a:tr h="412375">
                <a:tc>
                  <a:txBody>
                    <a:bodyPr/>
                    <a:lstStyle/>
                    <a:p>
                      <a:r>
                        <a:rPr lang="en-US" sz="1600"/>
                        <a:t>Problem Statement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目前最大的業務問題與痛點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4147315148"/>
                  </a:ext>
                </a:extLst>
              </a:tr>
              <a:tr h="412375">
                <a:tc>
                  <a:txBody>
                    <a:bodyPr/>
                    <a:lstStyle/>
                    <a:p>
                      <a:r>
                        <a:rPr lang="en-US" sz="1600"/>
                        <a:t>Target Users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使用者角色（</a:t>
                      </a:r>
                      <a:r>
                        <a:rPr lang="en-US" sz="1200" kern="120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Sales、PM、FAE、Factory</a:t>
                      </a:r>
                      <a:r>
                        <a:rPr 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…）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3642899922"/>
                  </a:ext>
                </a:extLst>
              </a:tr>
              <a:tr h="412375">
                <a:tc>
                  <a:txBody>
                    <a:bodyPr/>
                    <a:lstStyle/>
                    <a:p>
                      <a:r>
                        <a:rPr lang="en-US" sz="1600"/>
                        <a:t>Data Input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使用哪些資料來源（</a:t>
                      </a:r>
                      <a:r>
                        <a:rPr lang="en-US" sz="1200" kern="120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ERP、CRM、Email、MES、Knowledge</a:t>
                      </a:r>
                      <a:r>
                        <a:rPr 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Base…）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315931567"/>
                  </a:ext>
                </a:extLst>
              </a:tr>
              <a:tr h="412375">
                <a:tc>
                  <a:txBody>
                    <a:bodyPr/>
                    <a:lstStyle/>
                    <a:p>
                      <a:r>
                        <a:rPr lang="en-US" sz="1600"/>
                        <a:t>AI Agent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類型與能力（</a:t>
                      </a:r>
                      <a:r>
                        <a:rPr lang="en-US" sz="1200" kern="120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Planning、Reasoning、RAG、Workflow</a:t>
                      </a:r>
                      <a:r>
                        <a:rPr 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Agent…）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4207477547"/>
                  </a:ext>
                </a:extLst>
              </a:tr>
              <a:tr h="412375">
                <a:tc>
                  <a:txBody>
                    <a:bodyPr/>
                    <a:lstStyle/>
                    <a:p>
                      <a:r>
                        <a:rPr lang="en-US" sz="1600"/>
                        <a:t>Delivery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最終輸出形式（</a:t>
                      </a:r>
                      <a:r>
                        <a:rPr lang="en-US" sz="1200" kern="120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Dashboard、Copilot、Auto</a:t>
                      </a:r>
                      <a:r>
                        <a:rPr 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Report、Workflow</a:t>
                      </a:r>
                      <a:r>
                        <a:rPr 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…）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3196536723"/>
                  </a:ext>
                </a:extLst>
              </a:tr>
              <a:tr h="412375">
                <a:tc>
                  <a:txBody>
                    <a:bodyPr/>
                    <a:lstStyle/>
                    <a:p>
                      <a:r>
                        <a:rPr lang="en-US" sz="1600"/>
                        <a:t>Resources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使用的資源（</a:t>
                      </a:r>
                      <a:r>
                        <a:rPr lang="en-US" altLang="zh-TW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GPU</a:t>
                      </a:r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、人力、外部 </a:t>
                      </a:r>
                      <a:r>
                        <a:rPr lang="en-US" altLang="zh-TW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、內部系統）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2449760505"/>
                  </a:ext>
                </a:extLst>
              </a:tr>
              <a:tr h="412375">
                <a:tc>
                  <a:txBody>
                    <a:bodyPr/>
                    <a:lstStyle/>
                    <a:p>
                      <a:r>
                        <a:rPr lang="en-US" sz="1600"/>
                        <a:t>AI Platform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使用平台（</a:t>
                      </a:r>
                      <a:r>
                        <a:rPr 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Azure </a:t>
                      </a:r>
                      <a:r>
                        <a:rPr lang="en-US" sz="1200" kern="120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OpenAI、NVIDIA、OpenClaw、Hermes</a:t>
                      </a:r>
                      <a:r>
                        <a:rPr 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…）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271548475"/>
                  </a:ext>
                </a:extLst>
              </a:tr>
              <a:tr h="412375">
                <a:tc>
                  <a:txBody>
                    <a:bodyPr/>
                    <a:lstStyle/>
                    <a:p>
                      <a:r>
                        <a:rPr lang="en-US" sz="1600"/>
                        <a:t>Key Innovation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專案最核心創新點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2140242996"/>
                  </a:ext>
                </a:extLst>
              </a:tr>
              <a:tr h="412375">
                <a:tc>
                  <a:txBody>
                    <a:bodyPr/>
                    <a:lstStyle/>
                    <a:p>
                      <a:r>
                        <a:rPr lang="en-US" sz="1600"/>
                        <a:t>Current Status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POC / Prototype / Pilot / Production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2919646374"/>
                  </a:ext>
                </a:extLst>
              </a:tr>
              <a:tr h="412375">
                <a:tc>
                  <a:txBody>
                    <a:bodyPr/>
                    <a:lstStyle/>
                    <a:p>
                      <a:r>
                        <a:rPr lang="en-US" sz="1600"/>
                        <a:t>Expected Impact</a:t>
                      </a:r>
                    </a:p>
                  </a:txBody>
                  <a:tcPr marL="61511" marR="61511" marT="30755" marB="30755" anchor="ctr"/>
                </a:tc>
                <a:tc>
                  <a:txBody>
                    <a:bodyPr/>
                    <a:lstStyle/>
                    <a:p>
                      <a:pPr marL="0" algn="l" defTabSz="1218000" rtl="0" eaLnBrk="1" latinLnBrk="0" hangingPunct="1"/>
                      <a:r>
                        <a:rPr lang="zh-TW" altLang="en-US" sz="1200" kern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預期效益（節省工時、提升準確率等）</a:t>
                      </a:r>
                    </a:p>
                  </a:txBody>
                  <a:tcPr marL="61511" marR="61511" marT="30755" marB="30755" anchor="ctr"/>
                </a:tc>
                <a:extLst>
                  <a:ext uri="{0D108BD9-81ED-4DB2-BD59-A6C34878D82A}">
                    <a16:rowId xmlns:a16="http://schemas.microsoft.com/office/drawing/2014/main" val="1656721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108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gDn1l7TlyrFhv1Bb7CD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plate 1- Clean">
  <a:themeElements>
    <a:clrScheme name="沉穩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Advantech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F739414E4D9A409E4461843E07AD4C" ma:contentTypeVersion="12" ma:contentTypeDescription="Create a new document." ma:contentTypeScope="" ma:versionID="626ae68cc92229f3402aba102a819bbc">
  <xsd:schema xmlns:xsd="http://www.w3.org/2001/XMLSchema" xmlns:xs="http://www.w3.org/2001/XMLSchema" xmlns:p="http://schemas.microsoft.com/office/2006/metadata/properties" xmlns:ns2="36368669-f768-491c-b622-c1decd7e2b8f" xmlns:ns3="b16739bd-1640-4281-95dd-4f7b1ec415dc" targetNamespace="http://schemas.microsoft.com/office/2006/metadata/properties" ma:root="true" ma:fieldsID="b7f585b1fb2735911e6e1962586ee50e" ns2:_="" ns3:_="">
    <xsd:import namespace="36368669-f768-491c-b622-c1decd7e2b8f"/>
    <xsd:import namespace="b16739bd-1640-4281-95dd-4f7b1ec415dc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68669-f768-491c-b622-c1decd7e2b8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67aa7a73-93c2-45db-a662-f52703c77b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6739bd-1640-4281-95dd-4f7b1ec415dc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946dbee6-4142-4c32-a163-cea1199da2fd}" ma:internalName="TaxCatchAll" ma:showField="CatchAllData" ma:web="b16739bd-1640-4281-95dd-4f7b1ec415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16739bd-1640-4281-95dd-4f7b1ec415dc" xsi:nil="true"/>
    <lcf76f155ced4ddcb4097134ff3c332f xmlns="36368669-f768-491c-b622-c1decd7e2b8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9C9089-2BEA-4863-A851-D04AE1F4D6F2}">
  <ds:schemaRefs>
    <ds:schemaRef ds:uri="36368669-f768-491c-b622-c1decd7e2b8f"/>
    <ds:schemaRef ds:uri="b16739bd-1640-4281-95dd-4f7b1ec415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692F18-734A-4C69-AE5B-C994EF2A37BC}">
  <ds:schemaRefs>
    <ds:schemaRef ds:uri="28ba51c4-319a-4af4-bf2c-d93ab2277333"/>
    <ds:schemaRef ds:uri="36368669-f768-491c-b622-c1decd7e2b8f"/>
    <ds:schemaRef ds:uri="b16739bd-1640-4281-95dd-4f7b1ec415dc"/>
    <ds:schemaRef ds:uri="bda2c12d-1781-4788-9846-520fa4bb495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972A3F3-DA92-42FD-9CDA-AF78330E4E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1042</Words>
  <Application>Microsoft Office PowerPoint</Application>
  <PresentationFormat>寬螢幕</PresentationFormat>
  <Paragraphs>142</Paragraphs>
  <Slides>9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22" baseType="lpstr">
      <vt:lpstr>Aptos</vt:lpstr>
      <vt:lpstr>Noto Sans S Chinese Bold</vt:lpstr>
      <vt:lpstr>Microsoft JhengHei</vt:lpstr>
      <vt:lpstr>Microsoft JhengHei</vt:lpstr>
      <vt:lpstr>新細明體</vt:lpstr>
      <vt:lpstr>Arial</vt:lpstr>
      <vt:lpstr>Calibri</vt:lpstr>
      <vt:lpstr>Franklin Gothic Demi Cond</vt:lpstr>
      <vt:lpstr>Franklin Gothic Medium Cond</vt:lpstr>
      <vt:lpstr>Times New Roman</vt:lpstr>
      <vt:lpstr>Trebuchet MS</vt:lpstr>
      <vt:lpstr>Template 1- Clean</vt:lpstr>
      <vt:lpstr>think-cell Slide</vt:lpstr>
      <vt:lpstr>PowerPoint 簡報</vt:lpstr>
      <vt:lpstr>TOC - Table of Content</vt:lpstr>
      <vt:lpstr>PowerPoint 簡報</vt:lpstr>
      <vt:lpstr>PowerPoint 簡報</vt:lpstr>
      <vt:lpstr>以下作為引導各組 製作投影片的方向    “僅供參考”  The following slide examples are for reference only.</vt:lpstr>
      <vt:lpstr>Business Scenario &amp; Pain Point / 業務情境與痛點</vt:lpstr>
      <vt:lpstr>DEMO</vt:lpstr>
      <vt:lpstr>Feasibility &amp; Scaling Plan 落地可行性與後續推廣規劃</vt:lpstr>
      <vt:lpstr>Executives Summary “補充說明”頁面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Jennifer.Huang</dc:creator>
  <cp:lastModifiedBy>Fabian.Chung</cp:lastModifiedBy>
  <cp:revision>11</cp:revision>
  <cp:lastPrinted>2026-04-30T04:09:10Z</cp:lastPrinted>
  <dcterms:created xsi:type="dcterms:W3CDTF">2019-07-09T02:05:46Z</dcterms:created>
  <dcterms:modified xsi:type="dcterms:W3CDTF">2026-07-09T02:06:32Z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0x010100CCF739414E4D9A409E4461843E07AD4C</vt:lpwstr>
  </property>
  <property fmtid="{D5CDD505-2E9C-101B-9397-08002B2CF9AE}" pid="3" name="MediaServiceImageTags">
    <vt:lpwstr/>
  </property>
</Properties>
</file>